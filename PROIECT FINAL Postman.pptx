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81" r:id="rId5"/>
    <p:sldId id="259" r:id="rId6"/>
    <p:sldId id="261" r:id="rId7"/>
    <p:sldId id="272" r:id="rId8"/>
    <p:sldId id="274" r:id="rId9"/>
    <p:sldId id="275" r:id="rId10"/>
    <p:sldId id="276" r:id="rId11"/>
    <p:sldId id="278" r:id="rId12"/>
    <p:sldId id="277" r:id="rId13"/>
    <p:sldId id="279" r:id="rId14"/>
    <p:sldId id="280" r:id="rId15"/>
    <p:sldId id="271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5311FD-0572-403A-9AF3-298F56BEE51D}" type="datetimeFigureOut">
              <a:rPr lang="en-US" smtClean="0"/>
              <a:t>05-Aug-24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C0D9D-2EF5-4170-B73B-722ACEFE2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889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C0D9D-2EF5-4170-B73B-722ACEFE2AF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258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05-Aug-24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05-Aug-24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05-Aug-24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05-Aug-24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05-Aug-24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05-Aug-24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05-Aug-24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05-Aug-24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05-Aug-24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05-Aug-24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05-Aug-24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05-Aug-24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05-Aug-24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05-Aug-24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05-Aug-24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05-Aug-24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05-Aug-24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05-Aug-24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reqres.in/api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A7056-EBC8-54BF-E84E-ABC32C0617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PROIECT final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CF61B-C857-3E93-EA16-2B88BD6351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 err="1"/>
              <a:t>Dumitrescu</a:t>
            </a:r>
            <a:r>
              <a:rPr lang="en-US" dirty="0"/>
              <a:t> Flavius </a:t>
            </a:r>
            <a:r>
              <a:rPr lang="en-US" dirty="0" err="1"/>
              <a:t>virgil</a:t>
            </a:r>
            <a:endParaRPr lang="en-US" dirty="0"/>
          </a:p>
          <a:p>
            <a:r>
              <a:rPr lang="en-US" dirty="0"/>
              <a:t>04.09.2024</a:t>
            </a:r>
          </a:p>
        </p:txBody>
      </p:sp>
    </p:spTree>
    <p:extLst>
      <p:ext uri="{BB962C8B-B14F-4D97-AF65-F5344CB8AC3E}">
        <p14:creationId xmlns:p14="http://schemas.microsoft.com/office/powerpoint/2010/main" val="1413844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94AEC-65C3-995E-CAB6-F58763B42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/>
          <a:lstStyle/>
          <a:p>
            <a:r>
              <a:rPr lang="en-US" dirty="0" err="1"/>
              <a:t>Partea</a:t>
            </a:r>
            <a:r>
              <a:rPr lang="en-US" dirty="0"/>
              <a:t> I - </a:t>
            </a:r>
            <a:r>
              <a:rPr lang="en-US" dirty="0" err="1"/>
              <a:t>Notiuni</a:t>
            </a:r>
            <a:r>
              <a:rPr lang="en-US" dirty="0"/>
              <a:t> </a:t>
            </a:r>
            <a:r>
              <a:rPr lang="en-US" dirty="0" err="1"/>
              <a:t>teoretice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8480E6-83F3-FFE4-B26D-297F88A0BAD7}"/>
              </a:ext>
            </a:extLst>
          </p:cNvPr>
          <p:cNvSpPr txBox="1"/>
          <p:nvPr/>
        </p:nvSpPr>
        <p:spPr>
          <a:xfrm>
            <a:off x="268941" y="1066801"/>
            <a:ext cx="1165952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1. </a:t>
            </a:r>
            <a:r>
              <a:rPr lang="fr-FR" sz="1400" dirty="0"/>
              <a:t>EXPLICAȚI PE SCURT CE SUNT CERINȚELE DE BUSINESS, LA CE NE FOLOSESC ȘI CINE LE CREEAZĂ</a:t>
            </a:r>
            <a:br>
              <a:rPr lang="fr-FR" sz="1400" dirty="0"/>
            </a:br>
            <a:r>
              <a:rPr lang="en-US" sz="1400" dirty="0"/>
              <a:t>Sunt </a:t>
            </a:r>
            <a:r>
              <a:rPr lang="en-US" sz="1400" dirty="0" err="1"/>
              <a:t>specificații</a:t>
            </a:r>
            <a:r>
              <a:rPr lang="en-US" sz="1400" dirty="0"/>
              <a:t> </a:t>
            </a:r>
            <a:r>
              <a:rPr lang="en-US" sz="1400" dirty="0" err="1"/>
              <a:t>detaliate</a:t>
            </a:r>
            <a:r>
              <a:rPr lang="en-US" sz="1400" dirty="0"/>
              <a:t> create de </a:t>
            </a:r>
            <a:r>
              <a:rPr lang="en-US" sz="1400" dirty="0" err="1"/>
              <a:t>echipele</a:t>
            </a:r>
            <a:r>
              <a:rPr lang="en-US" sz="1400" dirty="0"/>
              <a:t> de management </a:t>
            </a:r>
            <a:r>
              <a:rPr lang="en-US" sz="1400" dirty="0" err="1"/>
              <a:t>sau</a:t>
            </a:r>
            <a:r>
              <a:rPr lang="en-US" sz="1400" dirty="0"/>
              <a:t> de </a:t>
            </a:r>
            <a:r>
              <a:rPr lang="en-US" sz="1400" dirty="0" err="1"/>
              <a:t>proprietarii</a:t>
            </a:r>
            <a:r>
              <a:rPr lang="en-US" sz="1400" dirty="0"/>
              <a:t> </a:t>
            </a:r>
            <a:r>
              <a:rPr lang="en-US" sz="1400" dirty="0" err="1"/>
              <a:t>afacerilor</a:t>
            </a:r>
            <a:r>
              <a:rPr lang="en-US" sz="1400" dirty="0"/>
              <a:t>; </a:t>
            </a:r>
            <a:r>
              <a:rPr lang="en-US" sz="1400" dirty="0" err="1"/>
              <a:t>descrieri</a:t>
            </a:r>
            <a:r>
              <a:rPr lang="en-US" sz="1400" dirty="0"/>
              <a:t> </a:t>
            </a:r>
            <a:r>
              <a:rPr lang="en-US" sz="1400" dirty="0" err="1"/>
              <a:t>detaliate</a:t>
            </a:r>
            <a:r>
              <a:rPr lang="en-US" sz="1400" dirty="0"/>
              <a:t> ale </a:t>
            </a:r>
            <a:r>
              <a:rPr lang="en-US" sz="1400" dirty="0" err="1"/>
              <a:t>funcționalităților</a:t>
            </a:r>
            <a:r>
              <a:rPr lang="en-US" sz="1400" dirty="0"/>
              <a:t>, </a:t>
            </a:r>
            <a:r>
              <a:rPr lang="en-US" sz="1400" dirty="0" err="1"/>
              <a:t>performanței</a:t>
            </a:r>
            <a:r>
              <a:rPr lang="en-US" sz="1400" dirty="0"/>
              <a:t> și </a:t>
            </a:r>
            <a:r>
              <a:rPr lang="en-US" sz="1400" dirty="0" err="1"/>
              <a:t>comportamentului</a:t>
            </a:r>
            <a:r>
              <a:rPr lang="en-US" sz="1400" dirty="0"/>
              <a:t> </a:t>
            </a:r>
            <a:r>
              <a:rPr lang="en-US" sz="1400" dirty="0" err="1"/>
              <a:t>așteptat</a:t>
            </a:r>
            <a:r>
              <a:rPr lang="en-US" sz="1400" dirty="0"/>
              <a:t> al software-</a:t>
            </a:r>
            <a:r>
              <a:rPr lang="en-US" sz="1400" dirty="0" err="1"/>
              <a:t>ului</a:t>
            </a:r>
            <a:r>
              <a:rPr lang="en-US" sz="1400" dirty="0"/>
              <a:t>. </a:t>
            </a:r>
            <a:r>
              <a:rPr lang="en-US" sz="1400" dirty="0" err="1"/>
              <a:t>Cerințe</a:t>
            </a:r>
            <a:r>
              <a:rPr lang="en-US" sz="1400" dirty="0"/>
              <a:t> pot include </a:t>
            </a:r>
            <a:r>
              <a:rPr lang="en-US" sz="1400" dirty="0" err="1"/>
              <a:t>funcționalități</a:t>
            </a:r>
            <a:r>
              <a:rPr lang="en-US" sz="1400" dirty="0"/>
              <a:t> </a:t>
            </a:r>
            <a:r>
              <a:rPr lang="en-US" sz="1400" dirty="0" err="1"/>
              <a:t>specifice</a:t>
            </a:r>
            <a:r>
              <a:rPr lang="en-US" sz="1400" dirty="0"/>
              <a:t>, </a:t>
            </a:r>
            <a:r>
              <a:rPr lang="en-US" sz="1400" dirty="0" err="1"/>
              <a:t>interacțiuni</a:t>
            </a:r>
            <a:r>
              <a:rPr lang="en-US" sz="1400" dirty="0"/>
              <a:t> cu </a:t>
            </a:r>
            <a:r>
              <a:rPr lang="en-US" sz="1400" dirty="0" err="1"/>
              <a:t>utilizatorii</a:t>
            </a:r>
            <a:r>
              <a:rPr lang="en-US" sz="1400" dirty="0"/>
              <a:t>, </a:t>
            </a:r>
            <a:r>
              <a:rPr lang="en-US" sz="1400" dirty="0" err="1"/>
              <a:t>performanță</a:t>
            </a:r>
            <a:r>
              <a:rPr lang="en-US" sz="1400" dirty="0"/>
              <a:t>, </a:t>
            </a:r>
            <a:r>
              <a:rPr lang="en-US" sz="1400" dirty="0" err="1"/>
              <a:t>securitate</a:t>
            </a:r>
            <a:r>
              <a:rPr lang="en-US" sz="1400" dirty="0"/>
              <a:t> și </a:t>
            </a:r>
            <a:r>
              <a:rPr lang="en-US" sz="1400" dirty="0" err="1"/>
              <a:t>compatibilitate</a:t>
            </a:r>
            <a:br>
              <a:rPr lang="en-US" sz="1400" dirty="0"/>
            </a:br>
            <a:endParaRPr lang="en-US" sz="1400" dirty="0"/>
          </a:p>
          <a:p>
            <a:pPr algn="just"/>
            <a:r>
              <a:rPr lang="en-US" sz="1400" dirty="0"/>
              <a:t>2. DIFERENȚA ÎNTRE TEST CONDITION SI TEST CASE </a:t>
            </a:r>
          </a:p>
          <a:p>
            <a:pPr algn="just"/>
            <a:r>
              <a:rPr lang="en-US" sz="1400" dirty="0"/>
              <a:t>Test condition: </a:t>
            </a:r>
            <a:r>
              <a:rPr lang="en-US" sz="1400" dirty="0" err="1"/>
              <a:t>Acesta</a:t>
            </a:r>
            <a:r>
              <a:rPr lang="en-US" sz="1400" dirty="0"/>
              <a:t> </a:t>
            </a:r>
            <a:r>
              <a:rPr lang="en-US" sz="1400" dirty="0" err="1"/>
              <a:t>reprezintă</a:t>
            </a:r>
            <a:r>
              <a:rPr lang="en-US" sz="1400" dirty="0"/>
              <a:t> un aspect al unei </a:t>
            </a:r>
            <a:r>
              <a:rPr lang="en-US" sz="1400" dirty="0" err="1"/>
              <a:t>componente</a:t>
            </a:r>
            <a:r>
              <a:rPr lang="en-US" sz="1400" dirty="0"/>
              <a:t> </a:t>
            </a:r>
            <a:r>
              <a:rPr lang="en-US" sz="1400" dirty="0" err="1"/>
              <a:t>sau</a:t>
            </a:r>
            <a:r>
              <a:rPr lang="en-US" sz="1400" dirty="0"/>
              <a:t> al unui sistem care poate fi verificat </a:t>
            </a:r>
            <a:r>
              <a:rPr lang="en-US" sz="1400" dirty="0" err="1"/>
              <a:t>prin</a:t>
            </a:r>
            <a:r>
              <a:rPr lang="en-US" sz="1400" dirty="0"/>
              <a:t> </a:t>
            </a:r>
            <a:r>
              <a:rPr lang="en-US" sz="1400" dirty="0" err="1"/>
              <a:t>intermediul</a:t>
            </a:r>
            <a:r>
              <a:rPr lang="en-US" sz="1400" dirty="0"/>
              <a:t> unui test case. De exemplu, poate fi vorba despre o </a:t>
            </a:r>
            <a:r>
              <a:rPr lang="en-US" sz="1400" dirty="0" err="1"/>
              <a:t>funcție</a:t>
            </a:r>
            <a:r>
              <a:rPr lang="en-US" sz="1400" dirty="0"/>
              <a:t>, o </a:t>
            </a:r>
            <a:r>
              <a:rPr lang="en-US" sz="1400" dirty="0" err="1"/>
              <a:t>funcționalitate</a:t>
            </a:r>
            <a:r>
              <a:rPr lang="en-US" sz="1400" dirty="0"/>
              <a:t> </a:t>
            </a:r>
            <a:r>
              <a:rPr lang="en-US" sz="1400" dirty="0" err="1"/>
              <a:t>sau</a:t>
            </a:r>
            <a:r>
              <a:rPr lang="en-US" sz="1400" dirty="0"/>
              <a:t> un </a:t>
            </a:r>
            <a:r>
              <a:rPr lang="en-US" sz="1400" dirty="0" err="1"/>
              <a:t>atribut</a:t>
            </a:r>
            <a:r>
              <a:rPr lang="en-US" sz="1400" dirty="0"/>
              <a:t> specific. În </a:t>
            </a:r>
            <a:r>
              <a:rPr lang="en-US" sz="1400" dirty="0" err="1"/>
              <a:t>esență</a:t>
            </a:r>
            <a:r>
              <a:rPr lang="en-US" sz="1400" dirty="0"/>
              <a:t>, </a:t>
            </a:r>
            <a:r>
              <a:rPr lang="en-US" sz="1400" dirty="0" err="1"/>
              <a:t>este</a:t>
            </a:r>
            <a:r>
              <a:rPr lang="en-US" sz="1400" dirty="0"/>
              <a:t> ceea </a:t>
            </a:r>
            <a:r>
              <a:rPr lang="en-US" sz="1400" dirty="0" err="1"/>
              <a:t>ce</a:t>
            </a:r>
            <a:r>
              <a:rPr lang="en-US" sz="1400" dirty="0"/>
              <a:t> </a:t>
            </a:r>
            <a:r>
              <a:rPr lang="en-US" sz="1400" dirty="0" err="1"/>
              <a:t>veți</a:t>
            </a:r>
            <a:r>
              <a:rPr lang="en-US" sz="1400" dirty="0"/>
              <a:t> </a:t>
            </a:r>
            <a:r>
              <a:rPr lang="en-US" sz="1400" dirty="0" err="1"/>
              <a:t>testa</a:t>
            </a:r>
            <a:r>
              <a:rPr lang="en-US" sz="1400" dirty="0"/>
              <a:t>.</a:t>
            </a:r>
          </a:p>
          <a:p>
            <a:r>
              <a:rPr lang="en-US" sz="1400" dirty="0"/>
              <a:t>Test case: </a:t>
            </a:r>
            <a:r>
              <a:rPr lang="en-US" sz="1400" dirty="0" err="1"/>
              <a:t>Acesta</a:t>
            </a:r>
            <a:r>
              <a:rPr lang="en-US" sz="1400" dirty="0"/>
              <a:t> </a:t>
            </a:r>
            <a:r>
              <a:rPr lang="en-US" sz="1400" dirty="0" err="1"/>
              <a:t>reprezintă</a:t>
            </a:r>
            <a:r>
              <a:rPr lang="en-US" sz="1400" dirty="0"/>
              <a:t> o </a:t>
            </a:r>
            <a:r>
              <a:rPr lang="en-US" sz="1400" dirty="0" err="1"/>
              <a:t>serie</a:t>
            </a:r>
            <a:r>
              <a:rPr lang="en-US" sz="1400" dirty="0"/>
              <a:t> de </a:t>
            </a:r>
            <a:r>
              <a:rPr lang="en-US" sz="1400" dirty="0" err="1"/>
              <a:t>pași</a:t>
            </a:r>
            <a:r>
              <a:rPr lang="en-US" sz="1400" dirty="0"/>
              <a:t> pe care îi </a:t>
            </a:r>
            <a:r>
              <a:rPr lang="en-US" sz="1400" dirty="0" err="1"/>
              <a:t>veți</a:t>
            </a:r>
            <a:r>
              <a:rPr lang="en-US" sz="1400" dirty="0"/>
              <a:t> </a:t>
            </a:r>
            <a:r>
              <a:rPr lang="en-US" sz="1400" dirty="0" err="1"/>
              <a:t>executa</a:t>
            </a:r>
            <a:r>
              <a:rPr lang="en-US" sz="1400" dirty="0"/>
              <a:t> pentru a </a:t>
            </a:r>
            <a:r>
              <a:rPr lang="en-US" sz="1400" dirty="0" err="1"/>
              <a:t>verifica</a:t>
            </a:r>
            <a:r>
              <a:rPr lang="en-US" sz="1400" dirty="0"/>
              <a:t> o </a:t>
            </a:r>
            <a:r>
              <a:rPr lang="en-US" sz="1400" dirty="0" err="1"/>
              <a:t>anumită</a:t>
            </a:r>
            <a:r>
              <a:rPr lang="en-US" sz="1400" dirty="0"/>
              <a:t> </a:t>
            </a:r>
            <a:r>
              <a:rPr lang="en-US" sz="1400" dirty="0" err="1"/>
              <a:t>funcționalitate</a:t>
            </a:r>
            <a:r>
              <a:rPr lang="en-US" sz="1400" dirty="0"/>
              <a:t>. </a:t>
            </a:r>
            <a:r>
              <a:rPr lang="en-US" sz="1400" dirty="0" err="1"/>
              <a:t>Prin</a:t>
            </a:r>
            <a:r>
              <a:rPr lang="en-US" sz="1400" dirty="0"/>
              <a:t> urmare, </a:t>
            </a:r>
            <a:r>
              <a:rPr lang="en-US" sz="1400" dirty="0" err="1"/>
              <a:t>este</a:t>
            </a:r>
            <a:r>
              <a:rPr lang="en-US" sz="1400" dirty="0"/>
              <a:t> </a:t>
            </a:r>
            <a:r>
              <a:rPr lang="en-US" sz="1400" dirty="0" err="1"/>
              <a:t>modalitatea</a:t>
            </a:r>
            <a:r>
              <a:rPr lang="en-US" sz="1400" dirty="0"/>
              <a:t> </a:t>
            </a:r>
            <a:r>
              <a:rPr lang="en-US" sz="1400" dirty="0" err="1"/>
              <a:t>prin</a:t>
            </a:r>
            <a:r>
              <a:rPr lang="en-US" sz="1400" dirty="0"/>
              <a:t> care </a:t>
            </a:r>
            <a:r>
              <a:rPr lang="en-US" sz="1400" dirty="0" err="1"/>
              <a:t>veți</a:t>
            </a:r>
            <a:r>
              <a:rPr lang="en-US" sz="1400" dirty="0"/>
              <a:t> </a:t>
            </a:r>
            <a:r>
              <a:rPr lang="en-US" sz="1400" dirty="0" err="1"/>
              <a:t>testa</a:t>
            </a:r>
            <a:r>
              <a:rPr lang="en-US" sz="1400" dirty="0"/>
              <a:t> </a:t>
            </a:r>
            <a:r>
              <a:rPr lang="en-US" sz="1400" dirty="0" err="1"/>
              <a:t>respectivul</a:t>
            </a:r>
            <a:r>
              <a:rPr lang="en-US" sz="1400" dirty="0"/>
              <a:t>  aspect. </a:t>
            </a:r>
            <a:br>
              <a:rPr lang="en-US" sz="1400" dirty="0"/>
            </a:br>
            <a:endParaRPr lang="en-US" sz="1400" dirty="0"/>
          </a:p>
          <a:p>
            <a:r>
              <a:rPr lang="en-US" sz="1400" dirty="0"/>
              <a:t>3. ENUMERAȚI ȘI EXPLICAȚI PE SCURT ETAPELE PROCESULUI DE TESTARE</a:t>
            </a:r>
            <a:br>
              <a:rPr lang="en-US" sz="1400" dirty="0"/>
            </a:br>
            <a:r>
              <a:rPr lang="en-US" sz="1400" dirty="0"/>
              <a:t>o	</a:t>
            </a:r>
            <a:r>
              <a:rPr lang="en-US" sz="1400" dirty="0" err="1"/>
              <a:t>Planificarea</a:t>
            </a:r>
            <a:r>
              <a:rPr lang="en-US" sz="1400" dirty="0"/>
              <a:t> </a:t>
            </a:r>
            <a:r>
              <a:rPr lang="en-US" sz="1400" dirty="0" err="1"/>
              <a:t>testării</a:t>
            </a:r>
            <a:r>
              <a:rPr lang="en-US" sz="1400" dirty="0"/>
              <a:t>: </a:t>
            </a:r>
            <a:r>
              <a:rPr lang="en-US" sz="1400" dirty="0" err="1"/>
              <a:t>Definirea</a:t>
            </a:r>
            <a:r>
              <a:rPr lang="en-US" sz="1400" dirty="0"/>
              <a:t> </a:t>
            </a:r>
            <a:r>
              <a:rPr lang="en-US" sz="1400" dirty="0" err="1"/>
              <a:t>strategiei</a:t>
            </a:r>
            <a:r>
              <a:rPr lang="en-US" sz="1400" dirty="0"/>
              <a:t> și </a:t>
            </a:r>
            <a:r>
              <a:rPr lang="en-US" sz="1400" dirty="0" err="1"/>
              <a:t>scopului</a:t>
            </a:r>
            <a:r>
              <a:rPr lang="en-US" sz="1400" dirty="0"/>
              <a:t> </a:t>
            </a:r>
            <a:r>
              <a:rPr lang="en-US" sz="1400" dirty="0" err="1"/>
              <a:t>testării</a:t>
            </a:r>
            <a:r>
              <a:rPr lang="en-US" sz="1400" dirty="0"/>
              <a:t>.</a:t>
            </a:r>
          </a:p>
          <a:p>
            <a:r>
              <a:rPr lang="en-US" sz="1400" dirty="0"/>
              <a:t>o	Analiza și </a:t>
            </a:r>
            <a:r>
              <a:rPr lang="en-US" sz="1400" dirty="0" err="1"/>
              <a:t>proiectarea</a:t>
            </a:r>
            <a:r>
              <a:rPr lang="en-US" sz="1400" dirty="0"/>
              <a:t> </a:t>
            </a:r>
            <a:r>
              <a:rPr lang="en-US" sz="1400" dirty="0" err="1"/>
              <a:t>testelor</a:t>
            </a:r>
            <a:r>
              <a:rPr lang="en-US" sz="1400" dirty="0"/>
              <a:t>: </a:t>
            </a:r>
            <a:r>
              <a:rPr lang="en-US" sz="1400" dirty="0" err="1"/>
              <a:t>Identificarea</a:t>
            </a:r>
            <a:r>
              <a:rPr lang="en-US" sz="1400" dirty="0"/>
              <a:t> </a:t>
            </a:r>
            <a:r>
              <a:rPr lang="en-US" sz="1400" dirty="0" err="1"/>
              <a:t>cerințelor</a:t>
            </a:r>
            <a:r>
              <a:rPr lang="en-US" sz="1400" dirty="0"/>
              <a:t> și </a:t>
            </a:r>
            <a:r>
              <a:rPr lang="en-US" sz="1400" dirty="0" err="1"/>
              <a:t>proiectarea</a:t>
            </a:r>
            <a:r>
              <a:rPr lang="en-US" sz="1400" dirty="0"/>
              <a:t> </a:t>
            </a:r>
            <a:r>
              <a:rPr lang="en-US" sz="1400" dirty="0" err="1"/>
              <a:t>testelor</a:t>
            </a:r>
            <a:r>
              <a:rPr lang="en-US" sz="1400" dirty="0"/>
              <a:t> </a:t>
            </a:r>
            <a:r>
              <a:rPr lang="en-US" sz="1400" dirty="0" err="1"/>
              <a:t>corespunzătoare</a:t>
            </a:r>
            <a:r>
              <a:rPr lang="en-US" sz="1400" dirty="0"/>
              <a:t>.</a:t>
            </a:r>
          </a:p>
          <a:p>
            <a:r>
              <a:rPr lang="en-US" sz="1400" dirty="0"/>
              <a:t>o	</a:t>
            </a:r>
            <a:r>
              <a:rPr lang="en-US" sz="1400" dirty="0" err="1"/>
              <a:t>Implementarea</a:t>
            </a:r>
            <a:r>
              <a:rPr lang="en-US" sz="1400" dirty="0"/>
              <a:t> </a:t>
            </a:r>
            <a:r>
              <a:rPr lang="en-US" sz="1400" dirty="0" err="1"/>
              <a:t>testelor</a:t>
            </a:r>
            <a:r>
              <a:rPr lang="en-US" sz="1400" dirty="0"/>
              <a:t>: </a:t>
            </a:r>
            <a:r>
              <a:rPr lang="en-US" sz="1400" dirty="0" err="1"/>
              <a:t>Crearea</a:t>
            </a:r>
            <a:r>
              <a:rPr lang="en-US" sz="1400" dirty="0"/>
              <a:t> și </a:t>
            </a:r>
            <a:r>
              <a:rPr lang="en-US" sz="1400" dirty="0" err="1"/>
              <a:t>configurarea</a:t>
            </a:r>
            <a:r>
              <a:rPr lang="en-US" sz="1400" dirty="0"/>
              <a:t> </a:t>
            </a:r>
            <a:r>
              <a:rPr lang="en-US" sz="1400" dirty="0" err="1"/>
              <a:t>mediului</a:t>
            </a:r>
            <a:r>
              <a:rPr lang="en-US" sz="1400" dirty="0"/>
              <a:t> de testare și a </a:t>
            </a:r>
            <a:r>
              <a:rPr lang="en-US" sz="1400" dirty="0" err="1"/>
              <a:t>cazurilor</a:t>
            </a:r>
            <a:r>
              <a:rPr lang="en-US" sz="1400" dirty="0"/>
              <a:t> de test.</a:t>
            </a:r>
          </a:p>
          <a:p>
            <a:r>
              <a:rPr lang="en-US" sz="1400" dirty="0"/>
              <a:t>o	</a:t>
            </a:r>
            <a:r>
              <a:rPr lang="en-US" sz="1400" dirty="0" err="1"/>
              <a:t>Executarea</a:t>
            </a:r>
            <a:r>
              <a:rPr lang="en-US" sz="1400" dirty="0"/>
              <a:t> </a:t>
            </a:r>
            <a:r>
              <a:rPr lang="en-US" sz="1400" dirty="0" err="1"/>
              <a:t>testelor</a:t>
            </a:r>
            <a:r>
              <a:rPr lang="en-US" sz="1400" dirty="0"/>
              <a:t>: </a:t>
            </a:r>
            <a:r>
              <a:rPr lang="en-US" sz="1400" dirty="0" err="1"/>
              <a:t>Rularea</a:t>
            </a:r>
            <a:r>
              <a:rPr lang="en-US" sz="1400" dirty="0"/>
              <a:t> </a:t>
            </a:r>
            <a:r>
              <a:rPr lang="en-US" sz="1400" dirty="0" err="1"/>
              <a:t>cazurilor</a:t>
            </a:r>
            <a:r>
              <a:rPr lang="en-US" sz="1400" dirty="0"/>
              <a:t> de test și </a:t>
            </a:r>
            <a:r>
              <a:rPr lang="en-US" sz="1400" dirty="0" err="1"/>
              <a:t>înregistrarea</a:t>
            </a:r>
            <a:r>
              <a:rPr lang="en-US" sz="1400" dirty="0"/>
              <a:t> </a:t>
            </a:r>
            <a:r>
              <a:rPr lang="en-US" sz="1400" dirty="0" err="1"/>
              <a:t>rezultatelor</a:t>
            </a:r>
            <a:r>
              <a:rPr lang="en-US" sz="1400" dirty="0"/>
              <a:t>.</a:t>
            </a:r>
          </a:p>
          <a:p>
            <a:r>
              <a:rPr lang="en-US" sz="1400" dirty="0"/>
              <a:t>o	</a:t>
            </a:r>
            <a:r>
              <a:rPr lang="en-US" sz="1400" dirty="0" err="1"/>
              <a:t>Evaluarea</a:t>
            </a:r>
            <a:r>
              <a:rPr lang="en-US" sz="1400" dirty="0"/>
              <a:t> </a:t>
            </a:r>
            <a:r>
              <a:rPr lang="en-US" sz="1400" dirty="0" err="1"/>
              <a:t>criteriilor</a:t>
            </a:r>
            <a:r>
              <a:rPr lang="en-US" sz="1400" dirty="0"/>
              <a:t> de </a:t>
            </a:r>
            <a:r>
              <a:rPr lang="en-US" sz="1400" dirty="0" err="1"/>
              <a:t>ieșire</a:t>
            </a:r>
            <a:r>
              <a:rPr lang="en-US" sz="1400" dirty="0"/>
              <a:t>: </a:t>
            </a:r>
            <a:r>
              <a:rPr lang="en-US" sz="1400" dirty="0" err="1"/>
              <a:t>Determinarea</a:t>
            </a:r>
            <a:r>
              <a:rPr lang="en-US" sz="1400" dirty="0"/>
              <a:t> </a:t>
            </a:r>
            <a:r>
              <a:rPr lang="en-US" sz="1400" dirty="0" err="1"/>
              <a:t>dacă</a:t>
            </a:r>
            <a:r>
              <a:rPr lang="en-US" sz="1400" dirty="0"/>
              <a:t> </a:t>
            </a:r>
            <a:r>
              <a:rPr lang="en-US" sz="1400" dirty="0" err="1"/>
              <a:t>testarea</a:t>
            </a:r>
            <a:r>
              <a:rPr lang="en-US" sz="1400" dirty="0"/>
              <a:t> </a:t>
            </a:r>
            <a:r>
              <a:rPr lang="en-US" sz="1400" dirty="0" err="1"/>
              <a:t>este</a:t>
            </a:r>
            <a:r>
              <a:rPr lang="en-US" sz="1400" dirty="0"/>
              <a:t> </a:t>
            </a:r>
            <a:r>
              <a:rPr lang="en-US" sz="1400" dirty="0" err="1"/>
              <a:t>completă</a:t>
            </a:r>
            <a:r>
              <a:rPr lang="en-US" sz="1400" dirty="0"/>
              <a:t>.</a:t>
            </a:r>
          </a:p>
          <a:p>
            <a:r>
              <a:rPr lang="en-US" sz="1400" dirty="0"/>
              <a:t>o	</a:t>
            </a:r>
            <a:r>
              <a:rPr lang="en-US" sz="1400" dirty="0" err="1"/>
              <a:t>Raportarea</a:t>
            </a:r>
            <a:r>
              <a:rPr lang="en-US" sz="1400" dirty="0"/>
              <a:t>: </a:t>
            </a:r>
            <a:r>
              <a:rPr lang="en-US" sz="1400" dirty="0" err="1"/>
              <a:t>Documentarea</a:t>
            </a:r>
            <a:r>
              <a:rPr lang="en-US" sz="1400" dirty="0"/>
              <a:t> și </a:t>
            </a:r>
            <a:r>
              <a:rPr lang="en-US" sz="1400" dirty="0" err="1"/>
              <a:t>comunicarea</a:t>
            </a:r>
            <a:r>
              <a:rPr lang="en-US" sz="1400" dirty="0"/>
              <a:t> </a:t>
            </a:r>
            <a:r>
              <a:rPr lang="en-US" sz="1400" dirty="0" err="1"/>
              <a:t>rezultatelor</a:t>
            </a:r>
            <a:r>
              <a:rPr lang="en-US" sz="1400" dirty="0"/>
              <a:t> </a:t>
            </a:r>
            <a:r>
              <a:rPr lang="en-US" sz="1400" dirty="0" err="1"/>
              <a:t>testării</a:t>
            </a:r>
            <a:r>
              <a:rPr lang="en-US" sz="1400" dirty="0"/>
              <a:t>.</a:t>
            </a:r>
          </a:p>
          <a:p>
            <a:r>
              <a:rPr lang="en-US" sz="1400" dirty="0"/>
              <a:t>o	</a:t>
            </a:r>
            <a:r>
              <a:rPr lang="en-US" sz="1400" dirty="0" err="1"/>
              <a:t>Închiderea</a:t>
            </a:r>
            <a:r>
              <a:rPr lang="en-US" sz="1400" dirty="0"/>
              <a:t> </a:t>
            </a:r>
            <a:r>
              <a:rPr lang="en-US" sz="1400" dirty="0" err="1"/>
              <a:t>testării</a:t>
            </a:r>
            <a:r>
              <a:rPr lang="en-US" sz="1400" dirty="0"/>
              <a:t>: </a:t>
            </a:r>
            <a:r>
              <a:rPr lang="en-US" sz="1400" dirty="0" err="1"/>
              <a:t>Finalizarea</a:t>
            </a:r>
            <a:r>
              <a:rPr lang="en-US" sz="1400" dirty="0"/>
              <a:t> </a:t>
            </a:r>
            <a:r>
              <a:rPr lang="en-US" sz="1400" dirty="0" err="1"/>
              <a:t>activităților</a:t>
            </a:r>
            <a:r>
              <a:rPr lang="en-US" sz="1400" dirty="0"/>
              <a:t> de testare și </a:t>
            </a:r>
            <a:r>
              <a:rPr lang="en-US" sz="1400" dirty="0" err="1"/>
              <a:t>arhivarea</a:t>
            </a:r>
            <a:r>
              <a:rPr lang="en-US" sz="1400" dirty="0"/>
              <a:t> </a:t>
            </a:r>
            <a:r>
              <a:rPr lang="en-US" sz="1400" dirty="0" err="1"/>
              <a:t>rezultatelor</a:t>
            </a:r>
            <a:r>
              <a:rPr lang="en-US" sz="1400" dirty="0"/>
              <a:t>.</a:t>
            </a:r>
            <a:br>
              <a:rPr lang="en-US" sz="1400" dirty="0"/>
            </a:br>
            <a:r>
              <a:rPr lang="en-US" sz="1400" dirty="0"/>
              <a:t>Mai multe detalii se </a:t>
            </a:r>
            <a:r>
              <a:rPr lang="en-US" sz="1400" dirty="0" err="1"/>
              <a:t>regasesc</a:t>
            </a:r>
            <a:r>
              <a:rPr lang="en-US" sz="1400" dirty="0"/>
              <a:t> in slide-urile de </a:t>
            </a:r>
            <a:r>
              <a:rPr lang="en-US" sz="1400" dirty="0" err="1"/>
              <a:t>mai</a:t>
            </a:r>
            <a:r>
              <a:rPr lang="en-US" sz="1400" dirty="0"/>
              <a:t> </a:t>
            </a:r>
            <a:r>
              <a:rPr lang="en-US" sz="1400" dirty="0" err="1"/>
              <a:t>jos.</a:t>
            </a:r>
            <a:endParaRPr lang="en-US" sz="1400" dirty="0"/>
          </a:p>
          <a:p>
            <a:br>
              <a:rPr lang="en-US" sz="1400" dirty="0"/>
            </a:br>
            <a:r>
              <a:rPr lang="en-US" sz="1400" dirty="0"/>
              <a:t>4. </a:t>
            </a:r>
            <a:r>
              <a:rPr lang="it-IT" sz="1400" dirty="0"/>
              <a:t> EXPLICAȚI DIFERENȚA ÎNTRE RETESTING ȘI REGRESSION TESTING</a:t>
            </a:r>
            <a:br>
              <a:rPr lang="it-IT" sz="1400" dirty="0"/>
            </a:br>
            <a:br>
              <a:rPr lang="it-IT" sz="1400" dirty="0"/>
            </a:br>
            <a:r>
              <a:rPr lang="it-IT" sz="1400" dirty="0"/>
              <a:t>•	Retesting este procesul de testare a unei componente sau funcționalități după ce a fost remediată o eroare. Regression testing este testarea sistemului pentru a se asigura că modificările recente nu au afectat funcționalitățile existente.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34737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94AEC-65C3-995E-CAB6-F58763B42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58847"/>
            <a:ext cx="9905998" cy="1478570"/>
          </a:xfrm>
        </p:spPr>
        <p:txBody>
          <a:bodyPr/>
          <a:lstStyle/>
          <a:p>
            <a:r>
              <a:rPr lang="en-US" dirty="0" err="1"/>
              <a:t>Partea</a:t>
            </a:r>
            <a:r>
              <a:rPr lang="en-US" dirty="0"/>
              <a:t> I - </a:t>
            </a:r>
            <a:r>
              <a:rPr lang="en-US" dirty="0" err="1"/>
              <a:t>Notiuni</a:t>
            </a:r>
            <a:r>
              <a:rPr lang="en-US" dirty="0"/>
              <a:t> </a:t>
            </a:r>
            <a:r>
              <a:rPr lang="en-US" dirty="0" err="1"/>
              <a:t>teoretice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61EE05-A0B1-9FF4-3755-4C2A15E7F7EC}"/>
              </a:ext>
            </a:extLst>
          </p:cNvPr>
          <p:cNvSpPr txBox="1"/>
          <p:nvPr/>
        </p:nvSpPr>
        <p:spPr>
          <a:xfrm>
            <a:off x="391886" y="1268496"/>
            <a:ext cx="11342915" cy="5220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/>
              <a:t>5. EXPLICAȚI DIFERENȚA ÎNTRE FUNCTIONAL TESTING ȘI NON-FUNCTIONAL TESTING</a:t>
            </a:r>
          </a:p>
          <a:p>
            <a:pPr algn="just"/>
            <a:r>
              <a:rPr lang="en-US" sz="1400" dirty="0"/>
              <a:t>•	Functional testing </a:t>
            </a:r>
            <a:r>
              <a:rPr lang="en-US" sz="1400" dirty="0" err="1"/>
              <a:t>verifică</a:t>
            </a:r>
            <a:r>
              <a:rPr lang="en-US" sz="1400" dirty="0"/>
              <a:t> </a:t>
            </a:r>
            <a:r>
              <a:rPr lang="en-US" sz="1400" dirty="0" err="1"/>
              <a:t>dacă</a:t>
            </a:r>
            <a:r>
              <a:rPr lang="en-US" sz="1400" dirty="0"/>
              <a:t> </a:t>
            </a:r>
            <a:r>
              <a:rPr lang="en-US" sz="1400" dirty="0" err="1"/>
              <a:t>sistemul</a:t>
            </a:r>
            <a:r>
              <a:rPr lang="en-US" sz="1400" dirty="0"/>
              <a:t> </a:t>
            </a:r>
            <a:r>
              <a:rPr lang="en-US" sz="1400" dirty="0" err="1"/>
              <a:t>îndeplinește</a:t>
            </a:r>
            <a:r>
              <a:rPr lang="en-US" sz="1400" dirty="0"/>
              <a:t> cerințele </a:t>
            </a:r>
            <a:r>
              <a:rPr lang="en-US" sz="1400" dirty="0" err="1"/>
              <a:t>specificate</a:t>
            </a:r>
            <a:r>
              <a:rPr lang="en-US" sz="1400" dirty="0"/>
              <a:t>, </a:t>
            </a:r>
            <a:r>
              <a:rPr lang="en-US" sz="1400" dirty="0" err="1"/>
              <a:t>concentrându</a:t>
            </a:r>
            <a:r>
              <a:rPr lang="en-US" sz="1400" dirty="0"/>
              <a:t>-se pe </a:t>
            </a:r>
            <a:r>
              <a:rPr lang="en-US" sz="1400" dirty="0" err="1"/>
              <a:t>ce</a:t>
            </a:r>
            <a:r>
              <a:rPr lang="en-US" sz="1400" dirty="0"/>
              <a:t> face </a:t>
            </a:r>
            <a:r>
              <a:rPr lang="en-US" sz="1400" dirty="0" err="1"/>
              <a:t>sistemul</a:t>
            </a:r>
            <a:r>
              <a:rPr lang="en-US" sz="1400" dirty="0"/>
              <a:t>. Non-functional testing </a:t>
            </a:r>
            <a:r>
              <a:rPr lang="en-US" sz="1400" dirty="0" err="1"/>
              <a:t>evaluează</a:t>
            </a:r>
            <a:r>
              <a:rPr lang="en-US" sz="1400" dirty="0"/>
              <a:t> </a:t>
            </a:r>
            <a:r>
              <a:rPr lang="en-US" sz="1400" dirty="0" err="1"/>
              <a:t>calitățile</a:t>
            </a:r>
            <a:r>
              <a:rPr lang="en-US" sz="1400" dirty="0"/>
              <a:t> </a:t>
            </a:r>
            <a:r>
              <a:rPr lang="en-US" sz="1400" dirty="0" err="1"/>
              <a:t>sistemului</a:t>
            </a:r>
            <a:r>
              <a:rPr lang="en-US" sz="1400" dirty="0"/>
              <a:t>, cum </a:t>
            </a:r>
            <a:r>
              <a:rPr lang="en-US" sz="1400" dirty="0" err="1"/>
              <a:t>ar</a:t>
            </a:r>
            <a:r>
              <a:rPr lang="en-US" sz="1400" dirty="0"/>
              <a:t> fi </a:t>
            </a:r>
            <a:r>
              <a:rPr lang="en-US" sz="1400" dirty="0" err="1"/>
              <a:t>performanța</a:t>
            </a:r>
            <a:r>
              <a:rPr lang="en-US" sz="1400" dirty="0"/>
              <a:t>, </a:t>
            </a:r>
            <a:r>
              <a:rPr lang="en-US" sz="1400" dirty="0" err="1"/>
              <a:t>securitatea</a:t>
            </a:r>
            <a:r>
              <a:rPr lang="en-US" sz="1400" dirty="0"/>
              <a:t> și </a:t>
            </a:r>
            <a:r>
              <a:rPr lang="en-US" sz="1400" dirty="0" err="1"/>
              <a:t>utilizabilitatea</a:t>
            </a:r>
            <a:r>
              <a:rPr lang="en-US" sz="1400" dirty="0"/>
              <a:t>, </a:t>
            </a:r>
            <a:r>
              <a:rPr lang="en-US" sz="1400" dirty="0" err="1"/>
              <a:t>concentrându</a:t>
            </a:r>
            <a:r>
              <a:rPr lang="en-US" sz="1400" dirty="0"/>
              <a:t>-se pe cum </a:t>
            </a:r>
            <a:r>
              <a:rPr lang="en-US" sz="1400" dirty="0" err="1"/>
              <a:t>funcționează</a:t>
            </a:r>
            <a:r>
              <a:rPr lang="en-US" sz="1400" dirty="0"/>
              <a:t> </a:t>
            </a:r>
            <a:r>
              <a:rPr lang="en-US" sz="1400" dirty="0" err="1"/>
              <a:t>sistemul</a:t>
            </a:r>
            <a:r>
              <a:rPr lang="en-US" sz="1400" dirty="0"/>
              <a:t>.</a:t>
            </a:r>
          </a:p>
          <a:p>
            <a:pPr algn="just"/>
            <a:endParaRPr lang="en-US" sz="1400" dirty="0"/>
          </a:p>
          <a:p>
            <a:pPr algn="just"/>
            <a:r>
              <a:rPr lang="en-US" sz="1400" dirty="0"/>
              <a:t>6. EXPLICAȚI DIFERENȚA ÎNTRE BLACKBOX TESTING ȘI WHITEBOX TESTING</a:t>
            </a:r>
          </a:p>
          <a:p>
            <a:pPr algn="just"/>
            <a:r>
              <a:rPr lang="en-US" sz="1400" dirty="0"/>
              <a:t>•	Blackbox testing </a:t>
            </a:r>
            <a:r>
              <a:rPr lang="en-US" sz="1400" dirty="0" err="1"/>
              <a:t>testează</a:t>
            </a:r>
            <a:r>
              <a:rPr lang="en-US" sz="1400" dirty="0"/>
              <a:t> </a:t>
            </a:r>
            <a:r>
              <a:rPr lang="en-US" sz="1400" dirty="0" err="1"/>
              <a:t>funcționalitatea</a:t>
            </a:r>
            <a:r>
              <a:rPr lang="en-US" sz="1400" dirty="0"/>
              <a:t> </a:t>
            </a:r>
            <a:r>
              <a:rPr lang="en-US" sz="1400" dirty="0" err="1"/>
              <a:t>sistemului</a:t>
            </a:r>
            <a:r>
              <a:rPr lang="en-US" sz="1400" dirty="0"/>
              <a:t> </a:t>
            </a:r>
            <a:r>
              <a:rPr lang="en-US" sz="1400" dirty="0" err="1"/>
              <a:t>fără</a:t>
            </a:r>
            <a:r>
              <a:rPr lang="en-US" sz="1400" dirty="0"/>
              <a:t> a </a:t>
            </a:r>
            <a:r>
              <a:rPr lang="en-US" sz="1400" dirty="0" err="1"/>
              <a:t>cunoaște</a:t>
            </a:r>
            <a:r>
              <a:rPr lang="en-US" sz="1400" dirty="0"/>
              <a:t> </a:t>
            </a:r>
            <a:r>
              <a:rPr lang="en-US" sz="1400" dirty="0" err="1"/>
              <a:t>structura</a:t>
            </a:r>
            <a:r>
              <a:rPr lang="en-US" sz="1400" dirty="0"/>
              <a:t> </a:t>
            </a:r>
            <a:r>
              <a:rPr lang="en-US" sz="1400" dirty="0" err="1"/>
              <a:t>internă</a:t>
            </a:r>
            <a:r>
              <a:rPr lang="en-US" sz="1400" dirty="0"/>
              <a:t> a </a:t>
            </a:r>
            <a:r>
              <a:rPr lang="en-US" sz="1400" dirty="0" err="1"/>
              <a:t>codului</a:t>
            </a:r>
            <a:r>
              <a:rPr lang="en-US" sz="1400" dirty="0"/>
              <a:t>. Whitebox testing </a:t>
            </a:r>
            <a:r>
              <a:rPr lang="en-US" sz="1400" dirty="0" err="1"/>
              <a:t>implică</a:t>
            </a:r>
            <a:r>
              <a:rPr lang="en-US" sz="1400" dirty="0"/>
              <a:t> </a:t>
            </a:r>
            <a:r>
              <a:rPr lang="en-US" sz="1400" dirty="0" err="1"/>
              <a:t>testarea</a:t>
            </a:r>
            <a:r>
              <a:rPr lang="en-US" sz="1400" dirty="0"/>
              <a:t> </a:t>
            </a:r>
            <a:r>
              <a:rPr lang="en-US" sz="1400" dirty="0" err="1"/>
              <a:t>structurii</a:t>
            </a:r>
            <a:r>
              <a:rPr lang="en-US" sz="1400" dirty="0"/>
              <a:t> interne și a </a:t>
            </a:r>
            <a:r>
              <a:rPr lang="en-US" sz="1400" dirty="0" err="1"/>
              <a:t>fluxurilor</a:t>
            </a:r>
            <a:r>
              <a:rPr lang="en-US" sz="1400" dirty="0"/>
              <a:t> </a:t>
            </a:r>
            <a:r>
              <a:rPr lang="en-US" sz="1400" dirty="0" err="1"/>
              <a:t>logice</a:t>
            </a:r>
            <a:r>
              <a:rPr lang="en-US" sz="1400" dirty="0"/>
              <a:t> ale </a:t>
            </a:r>
            <a:r>
              <a:rPr lang="en-US" sz="1400" dirty="0" err="1"/>
              <a:t>sistemului</a:t>
            </a:r>
            <a:r>
              <a:rPr lang="en-US" sz="1400" dirty="0"/>
              <a:t>, </a:t>
            </a:r>
            <a:r>
              <a:rPr lang="en-US" sz="1400" dirty="0" err="1"/>
              <a:t>necesitând</a:t>
            </a:r>
            <a:r>
              <a:rPr lang="en-US" sz="1400" dirty="0"/>
              <a:t> </a:t>
            </a:r>
            <a:r>
              <a:rPr lang="en-US" sz="1400" dirty="0" err="1"/>
              <a:t>cunoștințe</a:t>
            </a:r>
            <a:r>
              <a:rPr lang="en-US" sz="1400" dirty="0"/>
              <a:t> </a:t>
            </a:r>
            <a:r>
              <a:rPr lang="en-US" sz="1400" dirty="0" err="1"/>
              <a:t>minime</a:t>
            </a:r>
            <a:r>
              <a:rPr lang="en-US" sz="1400" dirty="0"/>
              <a:t> de programare.</a:t>
            </a:r>
          </a:p>
          <a:p>
            <a:pPr algn="just"/>
            <a:endParaRPr lang="en-US" sz="1400" dirty="0"/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/>
              <a:t>7. 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ENUMERAȚI TEHNICILE DE TESTARE ȘI GRUPAȚI-LE ÎN FUNCȚIE DE CATEGORIE (BLACKBOX, WHITEBOX,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EXPERIENCE-BASED)</a:t>
            </a:r>
            <a:b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•	Tehnici de testare: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	Blackbox: Equivalence partitioning, Boundary value analysis, Decision table testing, State </a:t>
            </a:r>
            <a:r>
              <a:rPr lang="en-US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trasnistion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testing.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	Whitebox: Statement coverage, Branch coverage, Path coverage.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	Experience-based: Exploratory testing, Error guessing.</a:t>
            </a:r>
          </a:p>
          <a:p>
            <a:pPr algn="just"/>
            <a:r>
              <a:rPr lang="en-US" sz="1400" dirty="0"/>
              <a:t>8. EXPLICAȚI DIFERENȚA ÎNTRE VERIFICATION ȘI VALIDATION </a:t>
            </a:r>
          </a:p>
          <a:p>
            <a:pPr algn="just"/>
            <a:r>
              <a:rPr lang="en-US" sz="1400" i="1" dirty="0"/>
              <a:t>Verification</a:t>
            </a:r>
            <a:r>
              <a:rPr lang="en-US" sz="1400" dirty="0"/>
              <a:t>: </a:t>
            </a:r>
            <a:r>
              <a:rPr lang="en-US" sz="1400" dirty="0" err="1"/>
              <a:t>Acesta</a:t>
            </a:r>
            <a:r>
              <a:rPr lang="en-US" sz="1400" dirty="0"/>
              <a:t> </a:t>
            </a:r>
            <a:r>
              <a:rPr lang="en-US" sz="1400" dirty="0" err="1"/>
              <a:t>reprezintă</a:t>
            </a:r>
            <a:r>
              <a:rPr lang="en-US" sz="1400" dirty="0"/>
              <a:t> procesul de </a:t>
            </a:r>
            <a:r>
              <a:rPr lang="en-US" sz="1400" dirty="0" err="1"/>
              <a:t>evaluare</a:t>
            </a:r>
            <a:r>
              <a:rPr lang="en-US" sz="1400" dirty="0"/>
              <a:t> </a:t>
            </a:r>
            <a:r>
              <a:rPr lang="en-US" sz="1400" dirty="0" err="1"/>
              <a:t>prin</a:t>
            </a:r>
            <a:r>
              <a:rPr lang="en-US" sz="1400" dirty="0"/>
              <a:t> care se </a:t>
            </a:r>
            <a:r>
              <a:rPr lang="en-US" sz="1400" dirty="0" err="1"/>
              <a:t>determină</a:t>
            </a:r>
            <a:r>
              <a:rPr lang="en-US" sz="1400" dirty="0"/>
              <a:t> </a:t>
            </a:r>
            <a:r>
              <a:rPr lang="en-US" sz="1400" dirty="0" err="1"/>
              <a:t>dacă</a:t>
            </a:r>
            <a:r>
              <a:rPr lang="en-US" sz="1400" dirty="0"/>
              <a:t> un </a:t>
            </a:r>
            <a:r>
              <a:rPr lang="en-US" sz="1400" dirty="0" err="1"/>
              <a:t>produs</a:t>
            </a:r>
            <a:r>
              <a:rPr lang="en-US" sz="1400" dirty="0"/>
              <a:t> </a:t>
            </a:r>
            <a:r>
              <a:rPr lang="en-US" sz="1400" dirty="0" err="1"/>
              <a:t>sau</a:t>
            </a:r>
            <a:r>
              <a:rPr lang="en-US" sz="1400" dirty="0"/>
              <a:t> sistem </a:t>
            </a:r>
            <a:r>
              <a:rPr lang="en-US" sz="1400" dirty="0" err="1"/>
              <a:t>respectă</a:t>
            </a:r>
            <a:r>
              <a:rPr lang="en-US" sz="1400" dirty="0"/>
              <a:t> </a:t>
            </a:r>
            <a:r>
              <a:rPr lang="en-US" sz="1400" dirty="0" err="1"/>
              <a:t>specificațiile</a:t>
            </a:r>
            <a:r>
              <a:rPr lang="en-US" sz="1400" dirty="0"/>
              <a:t> și cerințele </a:t>
            </a:r>
            <a:r>
              <a:rPr lang="en-US" sz="1400" dirty="0" err="1"/>
              <a:t>stabilite</a:t>
            </a:r>
            <a:r>
              <a:rPr lang="en-US" sz="1400" dirty="0"/>
              <a:t>. Cu </a:t>
            </a:r>
            <a:r>
              <a:rPr lang="en-US" sz="1400" dirty="0" err="1"/>
              <a:t>alte</a:t>
            </a:r>
            <a:r>
              <a:rPr lang="en-US" sz="1400" dirty="0"/>
              <a:t> cuvinte, </a:t>
            </a:r>
            <a:r>
              <a:rPr lang="en-US" sz="1400" dirty="0" err="1"/>
              <a:t>verificarea</a:t>
            </a:r>
            <a:r>
              <a:rPr lang="en-US" sz="1400" dirty="0"/>
              <a:t> se </a:t>
            </a:r>
            <a:r>
              <a:rPr lang="en-US" sz="1400" dirty="0" err="1"/>
              <a:t>concentrează</a:t>
            </a:r>
            <a:r>
              <a:rPr lang="en-US" sz="1400" dirty="0"/>
              <a:t> pe a </a:t>
            </a:r>
            <a:r>
              <a:rPr lang="en-US" sz="1400" dirty="0" err="1"/>
              <a:t>verifica</a:t>
            </a:r>
            <a:r>
              <a:rPr lang="en-US" sz="1400" dirty="0"/>
              <a:t> </a:t>
            </a:r>
            <a:r>
              <a:rPr lang="en-US" sz="1400" dirty="0" err="1"/>
              <a:t>dacă</a:t>
            </a:r>
            <a:r>
              <a:rPr lang="en-US" sz="1400" dirty="0"/>
              <a:t> ceea </a:t>
            </a:r>
            <a:r>
              <a:rPr lang="en-US" sz="1400" dirty="0" err="1"/>
              <a:t>ce</a:t>
            </a:r>
            <a:r>
              <a:rPr lang="en-US" sz="1400" dirty="0"/>
              <a:t> a fost </a:t>
            </a:r>
            <a:r>
              <a:rPr lang="en-US" sz="1400" dirty="0" err="1"/>
              <a:t>construit</a:t>
            </a:r>
            <a:r>
              <a:rPr lang="en-US" sz="1400" dirty="0"/>
              <a:t> </a:t>
            </a:r>
            <a:r>
              <a:rPr lang="en-US" sz="1400" dirty="0" err="1"/>
              <a:t>corespunde</a:t>
            </a:r>
            <a:r>
              <a:rPr lang="en-US" sz="1400" dirty="0"/>
              <a:t> cu ceea </a:t>
            </a:r>
            <a:r>
              <a:rPr lang="en-US" sz="1400" dirty="0" err="1"/>
              <a:t>ce</a:t>
            </a:r>
            <a:r>
              <a:rPr lang="en-US" sz="1400" dirty="0"/>
              <a:t> a fost </a:t>
            </a:r>
            <a:r>
              <a:rPr lang="en-US" sz="1400" dirty="0" err="1"/>
              <a:t>planificat</a:t>
            </a:r>
            <a:r>
              <a:rPr lang="en-US" sz="1400" dirty="0"/>
              <a:t> și </a:t>
            </a:r>
            <a:r>
              <a:rPr lang="en-US" sz="1400" dirty="0" err="1"/>
              <a:t>specificat</a:t>
            </a:r>
            <a:r>
              <a:rPr lang="en-US" sz="1400" dirty="0"/>
              <a:t>.</a:t>
            </a:r>
          </a:p>
          <a:p>
            <a:pPr algn="just"/>
            <a:r>
              <a:rPr lang="en-US" sz="1400" i="1" dirty="0"/>
              <a:t>Validation</a:t>
            </a:r>
            <a:r>
              <a:rPr lang="en-US" sz="1400" dirty="0"/>
              <a:t>: </a:t>
            </a:r>
            <a:r>
              <a:rPr lang="en-US" sz="1400" dirty="0" err="1"/>
              <a:t>Acesta</a:t>
            </a:r>
            <a:r>
              <a:rPr lang="en-US" sz="1400" dirty="0"/>
              <a:t> </a:t>
            </a:r>
            <a:r>
              <a:rPr lang="en-US" sz="1400" dirty="0" err="1"/>
              <a:t>este</a:t>
            </a:r>
            <a:r>
              <a:rPr lang="en-US" sz="1400" dirty="0"/>
              <a:t> procesul de </a:t>
            </a:r>
            <a:r>
              <a:rPr lang="en-US" sz="1400" dirty="0" err="1"/>
              <a:t>evaluare</a:t>
            </a:r>
            <a:r>
              <a:rPr lang="en-US" sz="1400" dirty="0"/>
              <a:t> </a:t>
            </a:r>
            <a:r>
              <a:rPr lang="en-US" sz="1400" dirty="0" err="1"/>
              <a:t>prin</a:t>
            </a:r>
            <a:r>
              <a:rPr lang="en-US" sz="1400" dirty="0"/>
              <a:t> care se </a:t>
            </a:r>
            <a:r>
              <a:rPr lang="en-US" sz="1400" dirty="0" err="1"/>
              <a:t>asigură</a:t>
            </a:r>
            <a:r>
              <a:rPr lang="en-US" sz="1400" dirty="0"/>
              <a:t> că un </a:t>
            </a:r>
            <a:r>
              <a:rPr lang="en-US" sz="1400" dirty="0" err="1"/>
              <a:t>produs</a:t>
            </a:r>
            <a:r>
              <a:rPr lang="en-US" sz="1400" dirty="0"/>
              <a:t> </a:t>
            </a:r>
            <a:r>
              <a:rPr lang="en-US" sz="1400" dirty="0" err="1"/>
              <a:t>sau</a:t>
            </a:r>
            <a:r>
              <a:rPr lang="en-US" sz="1400" dirty="0"/>
              <a:t> sistem </a:t>
            </a:r>
            <a:r>
              <a:rPr lang="en-US" sz="1400" dirty="0" err="1"/>
              <a:t>îndeplinește</a:t>
            </a:r>
            <a:r>
              <a:rPr lang="en-US" sz="1400" dirty="0"/>
              <a:t> </a:t>
            </a:r>
            <a:r>
              <a:rPr lang="en-US" sz="1400" dirty="0" err="1"/>
              <a:t>nevoile</a:t>
            </a:r>
            <a:r>
              <a:rPr lang="en-US" sz="1400" dirty="0"/>
              <a:t> și </a:t>
            </a:r>
            <a:r>
              <a:rPr lang="en-US" sz="1400" dirty="0" err="1"/>
              <a:t>așteptările</a:t>
            </a:r>
            <a:r>
              <a:rPr lang="en-US" sz="1400" dirty="0"/>
              <a:t> </a:t>
            </a:r>
            <a:r>
              <a:rPr lang="en-US" sz="1400" dirty="0" err="1"/>
              <a:t>utilizatorilor</a:t>
            </a:r>
            <a:r>
              <a:rPr lang="en-US" sz="1400" dirty="0"/>
              <a:t> </a:t>
            </a:r>
            <a:r>
              <a:rPr lang="en-US" sz="1400" dirty="0" err="1"/>
              <a:t>finali</a:t>
            </a:r>
            <a:r>
              <a:rPr lang="en-US" sz="1400" dirty="0"/>
              <a:t>. În </a:t>
            </a:r>
            <a:r>
              <a:rPr lang="en-US" sz="1400" dirty="0" err="1"/>
              <a:t>esență</a:t>
            </a:r>
            <a:r>
              <a:rPr lang="en-US" sz="1400" dirty="0"/>
              <a:t>, </a:t>
            </a:r>
            <a:r>
              <a:rPr lang="en-US" sz="1400" dirty="0" err="1"/>
              <a:t>validarea</a:t>
            </a:r>
            <a:r>
              <a:rPr lang="en-US" sz="1400" dirty="0"/>
              <a:t> se </a:t>
            </a:r>
            <a:r>
              <a:rPr lang="en-US" sz="1400" dirty="0" err="1"/>
              <a:t>concentrează</a:t>
            </a:r>
            <a:r>
              <a:rPr lang="en-US" sz="1400" dirty="0"/>
              <a:t> pe a </a:t>
            </a:r>
            <a:r>
              <a:rPr lang="en-US" sz="1400" dirty="0" err="1"/>
              <a:t>verifica</a:t>
            </a:r>
            <a:r>
              <a:rPr lang="en-US" sz="1400" dirty="0"/>
              <a:t> </a:t>
            </a:r>
            <a:r>
              <a:rPr lang="en-US" sz="1400" dirty="0" err="1"/>
              <a:t>dacă</a:t>
            </a:r>
            <a:r>
              <a:rPr lang="en-US" sz="1400" dirty="0"/>
              <a:t> ceea </a:t>
            </a:r>
            <a:r>
              <a:rPr lang="en-US" sz="1400" dirty="0" err="1"/>
              <a:t>ce</a:t>
            </a:r>
            <a:r>
              <a:rPr lang="en-US" sz="1400" dirty="0"/>
              <a:t> a fost </a:t>
            </a:r>
            <a:r>
              <a:rPr lang="en-US" sz="1400" dirty="0" err="1"/>
              <a:t>construit</a:t>
            </a:r>
            <a:r>
              <a:rPr lang="en-US" sz="1400" dirty="0"/>
              <a:t> </a:t>
            </a:r>
            <a:r>
              <a:rPr lang="en-US" sz="1400" dirty="0" err="1"/>
              <a:t>este</a:t>
            </a:r>
            <a:r>
              <a:rPr lang="en-US" sz="1400" dirty="0"/>
              <a:t> util și </a:t>
            </a:r>
            <a:r>
              <a:rPr lang="en-US" sz="1400" dirty="0" err="1"/>
              <a:t>funcțional</a:t>
            </a:r>
            <a:r>
              <a:rPr lang="en-US" sz="1400" dirty="0"/>
              <a:t> pentru </a:t>
            </a:r>
            <a:r>
              <a:rPr lang="en-US" sz="1400" dirty="0" err="1"/>
              <a:t>utilizatori</a:t>
            </a:r>
            <a:r>
              <a:rPr lang="en-US" sz="1400" dirty="0"/>
              <a:t>.</a:t>
            </a:r>
          </a:p>
          <a:p>
            <a:pPr algn="just"/>
            <a:endParaRPr lang="en-US" sz="1400" dirty="0"/>
          </a:p>
          <a:p>
            <a:pPr algn="just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24613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6B56A-299C-AC0F-D134-5B5A702F2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Partea I - </a:t>
            </a:r>
            <a:r>
              <a:rPr lang="en-US" dirty="0" err="1"/>
              <a:t>Notiuni</a:t>
            </a:r>
            <a:r>
              <a:rPr lang="en-US" dirty="0"/>
              <a:t> </a:t>
            </a:r>
            <a:r>
              <a:rPr lang="en-US" dirty="0" err="1"/>
              <a:t>teoretice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F4E30-C6B0-1EB3-B1A1-BF33F42B4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836" y="1649506"/>
            <a:ext cx="10751576" cy="5208494"/>
          </a:xfrm>
        </p:spPr>
        <p:txBody>
          <a:bodyPr>
            <a:normAutofit/>
          </a:bodyPr>
          <a:lstStyle/>
          <a:p>
            <a:r>
              <a:rPr lang="en-US" sz="1400" dirty="0"/>
              <a:t>9. •EXPLICAȚI DIFERENȚA ÎNTRE POSITIVE TESTING ȘI NEGATIVE TESTING ȘI DAȚI CÂTE UN EXEMPLU DIN FIECARE	</a:t>
            </a:r>
          </a:p>
          <a:p>
            <a:r>
              <a:rPr lang="en-US" sz="1400" dirty="0"/>
              <a:t>Positive testing </a:t>
            </a:r>
            <a:r>
              <a:rPr lang="en-US" sz="1400" dirty="0" err="1"/>
              <a:t>verifică</a:t>
            </a:r>
            <a:r>
              <a:rPr lang="en-US" sz="1400" dirty="0"/>
              <a:t> </a:t>
            </a:r>
            <a:r>
              <a:rPr lang="en-US" sz="1400" dirty="0" err="1"/>
              <a:t>dacă</a:t>
            </a:r>
            <a:r>
              <a:rPr lang="en-US" sz="1400" dirty="0"/>
              <a:t> </a:t>
            </a:r>
            <a:r>
              <a:rPr lang="en-US" sz="1400" dirty="0" err="1"/>
              <a:t>sistemul</a:t>
            </a:r>
            <a:r>
              <a:rPr lang="en-US" sz="1400" dirty="0"/>
              <a:t> </a:t>
            </a:r>
            <a:r>
              <a:rPr lang="en-US" sz="1400" dirty="0" err="1"/>
              <a:t>funcționează</a:t>
            </a:r>
            <a:r>
              <a:rPr lang="en-US" sz="1400" dirty="0"/>
              <a:t> </a:t>
            </a:r>
            <a:r>
              <a:rPr lang="en-US" sz="1400" dirty="0" err="1"/>
              <a:t>corect</a:t>
            </a:r>
            <a:r>
              <a:rPr lang="en-US" sz="1400" dirty="0"/>
              <a:t> cu date </a:t>
            </a:r>
            <a:r>
              <a:rPr lang="en-US" sz="1400" dirty="0" err="1"/>
              <a:t>valabile</a:t>
            </a:r>
            <a:r>
              <a:rPr lang="en-US" sz="1400" dirty="0"/>
              <a:t> (ex: </a:t>
            </a:r>
            <a:r>
              <a:rPr lang="en-US" sz="1400" dirty="0" err="1"/>
              <a:t>introducerea</a:t>
            </a:r>
            <a:r>
              <a:rPr lang="en-US" sz="1400" dirty="0"/>
              <a:t> unei parole </a:t>
            </a:r>
            <a:r>
              <a:rPr lang="en-US" sz="1400" dirty="0" err="1"/>
              <a:t>corecte</a:t>
            </a:r>
            <a:r>
              <a:rPr lang="en-US" sz="1400" dirty="0"/>
              <a:t>). </a:t>
            </a:r>
          </a:p>
          <a:p>
            <a:r>
              <a:rPr lang="en-US" sz="1400" dirty="0"/>
              <a:t>Negative testing </a:t>
            </a:r>
            <a:r>
              <a:rPr lang="en-US" sz="1400" dirty="0" err="1"/>
              <a:t>verifică</a:t>
            </a:r>
            <a:r>
              <a:rPr lang="en-US" sz="1400" dirty="0"/>
              <a:t> </a:t>
            </a:r>
            <a:r>
              <a:rPr lang="en-US" sz="1400" dirty="0" err="1"/>
              <a:t>dacă</a:t>
            </a:r>
            <a:r>
              <a:rPr lang="en-US" sz="1400" dirty="0"/>
              <a:t> </a:t>
            </a:r>
            <a:r>
              <a:rPr lang="en-US" sz="1400" dirty="0" err="1"/>
              <a:t>sistemul</a:t>
            </a:r>
            <a:r>
              <a:rPr lang="en-US" sz="1400" dirty="0"/>
              <a:t> </a:t>
            </a:r>
            <a:r>
              <a:rPr lang="en-US" sz="1400" dirty="0" err="1"/>
              <a:t>gestionează</a:t>
            </a:r>
            <a:r>
              <a:rPr lang="en-US" sz="1400" dirty="0"/>
              <a:t> </a:t>
            </a:r>
            <a:r>
              <a:rPr lang="en-US" sz="1400" dirty="0" err="1"/>
              <a:t>adecvat</a:t>
            </a:r>
            <a:r>
              <a:rPr lang="en-US" sz="1400" dirty="0"/>
              <a:t> date </a:t>
            </a:r>
            <a:r>
              <a:rPr lang="en-US" sz="1400" dirty="0" err="1"/>
              <a:t>invalide</a:t>
            </a:r>
            <a:r>
              <a:rPr lang="en-US" sz="1400" dirty="0"/>
              <a:t> (ex: </a:t>
            </a:r>
            <a:r>
              <a:rPr lang="en-US" sz="1400" dirty="0" err="1"/>
              <a:t>introducerea</a:t>
            </a:r>
            <a:r>
              <a:rPr lang="en-US" sz="1400" dirty="0"/>
              <a:t> unei parole </a:t>
            </a:r>
            <a:r>
              <a:rPr lang="en-US" sz="1400" dirty="0" err="1"/>
              <a:t>greșite</a:t>
            </a:r>
            <a:r>
              <a:rPr lang="en-US" sz="1400" dirty="0"/>
              <a:t> și </a:t>
            </a:r>
            <a:r>
              <a:rPr lang="en-US" sz="1400" dirty="0" err="1"/>
              <a:t>verificarea</a:t>
            </a:r>
            <a:r>
              <a:rPr lang="en-US" sz="1400" dirty="0"/>
              <a:t> </a:t>
            </a:r>
            <a:r>
              <a:rPr lang="en-US" sz="1400" dirty="0" err="1"/>
              <a:t>mesajului</a:t>
            </a:r>
            <a:r>
              <a:rPr lang="en-US" sz="1400" dirty="0"/>
              <a:t> de </a:t>
            </a:r>
            <a:r>
              <a:rPr lang="en-US" sz="1400" dirty="0" err="1"/>
              <a:t>eroare</a:t>
            </a:r>
            <a:r>
              <a:rPr lang="en-US" sz="1400" dirty="0"/>
              <a:t>)</a:t>
            </a:r>
          </a:p>
          <a:p>
            <a:r>
              <a:rPr lang="en-US" sz="1400" dirty="0"/>
              <a:t>10. ENUMERAȚI ȘI EXPLICAȚI PE SCURT NIVELURILE DE TESTARE</a:t>
            </a:r>
          </a:p>
          <a:p>
            <a:r>
              <a:rPr lang="en-US" sz="1400" dirty="0"/>
              <a:t>•	</a:t>
            </a:r>
            <a:r>
              <a:rPr lang="en-US" sz="1400" dirty="0" err="1"/>
              <a:t>Nivelurile</a:t>
            </a:r>
            <a:r>
              <a:rPr lang="en-US" sz="1400" dirty="0"/>
              <a:t> de testare </a:t>
            </a:r>
            <a:r>
              <a:rPr lang="en-US" sz="1400" dirty="0" err="1"/>
              <a:t>includ</a:t>
            </a:r>
            <a:r>
              <a:rPr lang="en-US" sz="1400" dirty="0"/>
              <a:t>:</a:t>
            </a:r>
          </a:p>
          <a:p>
            <a:r>
              <a:rPr lang="en-US" sz="1400" dirty="0"/>
              <a:t>o	Unit testing: </a:t>
            </a:r>
            <a:r>
              <a:rPr lang="en-US" sz="1400" dirty="0" err="1"/>
              <a:t>Testarea</a:t>
            </a:r>
            <a:r>
              <a:rPr lang="en-US" sz="1400" dirty="0"/>
              <a:t> </a:t>
            </a:r>
            <a:r>
              <a:rPr lang="en-US" sz="1400" dirty="0" err="1"/>
              <a:t>componentelor</a:t>
            </a:r>
            <a:r>
              <a:rPr lang="en-US" sz="1400" dirty="0"/>
              <a:t> </a:t>
            </a:r>
            <a:r>
              <a:rPr lang="en-US" sz="1400" dirty="0" err="1"/>
              <a:t>individuale</a:t>
            </a:r>
            <a:r>
              <a:rPr lang="en-US" sz="1400" dirty="0"/>
              <a:t> ale </a:t>
            </a:r>
            <a:r>
              <a:rPr lang="en-US" sz="1400" dirty="0" err="1"/>
              <a:t>codului</a:t>
            </a:r>
            <a:r>
              <a:rPr lang="en-US" sz="1400" dirty="0"/>
              <a:t>.</a:t>
            </a:r>
          </a:p>
          <a:p>
            <a:r>
              <a:rPr lang="en-US" sz="1400" dirty="0"/>
              <a:t>o	Integration testing: </a:t>
            </a:r>
            <a:r>
              <a:rPr lang="en-US" sz="1400" dirty="0" err="1"/>
              <a:t>Testarea</a:t>
            </a:r>
            <a:r>
              <a:rPr lang="en-US" sz="1400" dirty="0"/>
              <a:t> </a:t>
            </a:r>
            <a:r>
              <a:rPr lang="en-US" sz="1400" dirty="0" err="1"/>
              <a:t>interacțiunilor</a:t>
            </a:r>
            <a:r>
              <a:rPr lang="en-US" sz="1400" dirty="0"/>
              <a:t> dintre </a:t>
            </a:r>
            <a:r>
              <a:rPr lang="en-US" sz="1400" dirty="0" err="1"/>
              <a:t>componente</a:t>
            </a:r>
            <a:r>
              <a:rPr lang="en-US" sz="1400" dirty="0"/>
              <a:t>.</a:t>
            </a:r>
          </a:p>
          <a:p>
            <a:r>
              <a:rPr lang="en-US" sz="1400" dirty="0"/>
              <a:t>o	System testing: </a:t>
            </a:r>
            <a:r>
              <a:rPr lang="en-US" sz="1400" dirty="0" err="1"/>
              <a:t>Testarea</a:t>
            </a:r>
            <a:r>
              <a:rPr lang="en-US" sz="1400" dirty="0"/>
              <a:t> </a:t>
            </a:r>
            <a:r>
              <a:rPr lang="en-US" sz="1400" dirty="0" err="1"/>
              <a:t>întregului</a:t>
            </a:r>
            <a:r>
              <a:rPr lang="en-US" sz="1400" dirty="0"/>
              <a:t> sistem </a:t>
            </a:r>
            <a:r>
              <a:rPr lang="en-US" sz="1400" dirty="0" err="1"/>
              <a:t>integrat</a:t>
            </a:r>
            <a:r>
              <a:rPr lang="en-US" sz="1400" dirty="0"/>
              <a:t> pentru a </a:t>
            </a:r>
            <a:r>
              <a:rPr lang="en-US" sz="1400" dirty="0" err="1"/>
              <a:t>verifica</a:t>
            </a:r>
            <a:r>
              <a:rPr lang="en-US" sz="1400" dirty="0"/>
              <a:t> </a:t>
            </a:r>
            <a:r>
              <a:rPr lang="en-US" sz="1400" dirty="0" err="1"/>
              <a:t>conformitatea</a:t>
            </a:r>
            <a:r>
              <a:rPr lang="en-US" sz="1400" dirty="0"/>
              <a:t> cu cerințele </a:t>
            </a:r>
            <a:r>
              <a:rPr lang="en-US" sz="1400" dirty="0" err="1"/>
              <a:t>specificate</a:t>
            </a:r>
            <a:r>
              <a:rPr lang="en-US" sz="1400" dirty="0"/>
              <a:t>.</a:t>
            </a:r>
          </a:p>
          <a:p>
            <a:r>
              <a:rPr lang="en-US" sz="1400" dirty="0"/>
              <a:t>o	Acceptance testing: </a:t>
            </a:r>
            <a:r>
              <a:rPr lang="en-US" sz="1400" dirty="0" err="1"/>
              <a:t>Testarea</a:t>
            </a:r>
            <a:r>
              <a:rPr lang="en-US" sz="1400" dirty="0"/>
              <a:t> </a:t>
            </a:r>
            <a:r>
              <a:rPr lang="en-US" sz="1400" dirty="0" err="1"/>
              <a:t>realizată</a:t>
            </a:r>
            <a:r>
              <a:rPr lang="en-US" sz="1400" dirty="0"/>
              <a:t> de </a:t>
            </a:r>
            <a:r>
              <a:rPr lang="en-US" sz="1400" dirty="0" err="1"/>
              <a:t>utilizatori</a:t>
            </a:r>
            <a:r>
              <a:rPr lang="en-US" sz="1400" dirty="0"/>
              <a:t> </a:t>
            </a:r>
            <a:r>
              <a:rPr lang="en-US" sz="1400" dirty="0" err="1"/>
              <a:t>finali</a:t>
            </a:r>
            <a:r>
              <a:rPr lang="en-US" sz="1400" dirty="0"/>
              <a:t> pentru a </a:t>
            </a:r>
            <a:r>
              <a:rPr lang="en-US" sz="1400" dirty="0" err="1"/>
              <a:t>verifica</a:t>
            </a:r>
            <a:r>
              <a:rPr lang="en-US" sz="1400" dirty="0"/>
              <a:t> </a:t>
            </a:r>
            <a:r>
              <a:rPr lang="en-US" sz="1400" dirty="0" err="1"/>
              <a:t>dacă</a:t>
            </a:r>
            <a:r>
              <a:rPr lang="en-US" sz="1400" dirty="0"/>
              <a:t> </a:t>
            </a:r>
            <a:r>
              <a:rPr lang="en-US" sz="1400" dirty="0" err="1"/>
              <a:t>sistemul</a:t>
            </a:r>
            <a:r>
              <a:rPr lang="en-US" sz="1400" dirty="0"/>
              <a:t> </a:t>
            </a:r>
            <a:r>
              <a:rPr lang="en-US" sz="1400" dirty="0" err="1"/>
              <a:t>îndeplinește</a:t>
            </a:r>
            <a:r>
              <a:rPr lang="en-US" sz="1400" dirty="0"/>
              <a:t> </a:t>
            </a:r>
            <a:r>
              <a:rPr lang="en-US" sz="1400" dirty="0" err="1"/>
              <a:t>nevoile</a:t>
            </a:r>
            <a:r>
              <a:rPr lang="en-US" sz="1400" dirty="0"/>
              <a:t> și </a:t>
            </a:r>
            <a:r>
              <a:rPr lang="en-US" sz="1400" dirty="0" err="1"/>
              <a:t>așteptările</a:t>
            </a:r>
            <a:r>
              <a:rPr lang="en-US" sz="1400" dirty="0"/>
              <a:t> </a:t>
            </a:r>
            <a:r>
              <a:rPr lang="en-US" sz="1400" dirty="0" err="1"/>
              <a:t>acestora</a:t>
            </a:r>
            <a:r>
              <a:rPr lang="en-US" sz="1400" dirty="0"/>
              <a:t>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14719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94AEC-65C3-995E-CAB6-F58763B42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43" y="110411"/>
            <a:ext cx="9905998" cy="923331"/>
          </a:xfrm>
          <a:noFill/>
          <a:ln>
            <a:noFill/>
          </a:ln>
        </p:spPr>
        <p:txBody>
          <a:bodyPr/>
          <a:lstStyle/>
          <a:p>
            <a:r>
              <a:rPr lang="en-US" dirty="0" err="1"/>
              <a:t>Partea</a:t>
            </a:r>
            <a:r>
              <a:rPr lang="en-US" dirty="0"/>
              <a:t> I - </a:t>
            </a:r>
            <a:r>
              <a:rPr lang="en-US" dirty="0" err="1"/>
              <a:t>Notiuni</a:t>
            </a:r>
            <a:r>
              <a:rPr lang="en-US" dirty="0"/>
              <a:t> </a:t>
            </a:r>
            <a:r>
              <a:rPr lang="en-US" dirty="0" err="1"/>
              <a:t>teoretice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61EE05-A0B1-9FF4-3755-4C2A15E7F7EC}"/>
              </a:ext>
            </a:extLst>
          </p:cNvPr>
          <p:cNvSpPr txBox="1"/>
          <p:nvPr/>
        </p:nvSpPr>
        <p:spPr>
          <a:xfrm>
            <a:off x="261265" y="898600"/>
            <a:ext cx="11342915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dirty="0" err="1"/>
              <a:t>Etapele</a:t>
            </a:r>
            <a:r>
              <a:rPr lang="en-US" dirty="0"/>
              <a:t> </a:t>
            </a:r>
            <a:r>
              <a:rPr lang="en-US" dirty="0" err="1"/>
              <a:t>procesului</a:t>
            </a:r>
            <a:r>
              <a:rPr lang="en-US" dirty="0"/>
              <a:t> de </a:t>
            </a:r>
            <a:r>
              <a:rPr lang="en-US" dirty="0" err="1"/>
              <a:t>testare</a:t>
            </a:r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sp>
        <p:nvSpPr>
          <p:cNvPr id="11" name="Callout: Down Arrow 10">
            <a:extLst>
              <a:ext uri="{FF2B5EF4-FFF2-40B4-BE49-F238E27FC236}">
                <a16:creationId xmlns:a16="http://schemas.microsoft.com/office/drawing/2014/main" id="{02E3FBB8-2C94-C6A0-CB4F-F4E7A1839B22}"/>
              </a:ext>
            </a:extLst>
          </p:cNvPr>
          <p:cNvSpPr/>
          <p:nvPr/>
        </p:nvSpPr>
        <p:spPr>
          <a:xfrm>
            <a:off x="10344141" y="1405296"/>
            <a:ext cx="1741715" cy="1711808"/>
          </a:xfrm>
          <a:prstGeom prst="downArrowCallou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Evaluarea</a:t>
            </a:r>
            <a:r>
              <a:rPr lang="en-US" sz="1200" dirty="0"/>
              <a:t> </a:t>
            </a:r>
            <a:r>
              <a:rPr lang="en-US" sz="1200" dirty="0" err="1"/>
              <a:t>rezultatelor</a:t>
            </a:r>
            <a:endParaRPr lang="en-US" sz="1200" dirty="0"/>
          </a:p>
          <a:p>
            <a:pPr algn="ctr"/>
            <a:r>
              <a:rPr lang="en-US" sz="1200" dirty="0" err="1"/>
              <a:t>obținute</a:t>
            </a:r>
            <a:r>
              <a:rPr lang="en-US" sz="1200" dirty="0"/>
              <a:t>, </a:t>
            </a:r>
            <a:r>
              <a:rPr lang="en-US" sz="1200" dirty="0" err="1"/>
              <a:t>verificarea</a:t>
            </a:r>
            <a:endParaRPr lang="en-US" sz="1200" dirty="0"/>
          </a:p>
          <a:p>
            <a:pPr algn="ctr"/>
            <a:r>
              <a:rPr lang="en-US" sz="1200" dirty="0" err="1"/>
              <a:t>îndeplinirii</a:t>
            </a:r>
            <a:r>
              <a:rPr lang="en-US" sz="1200" dirty="0"/>
              <a:t> </a:t>
            </a:r>
            <a:r>
              <a:rPr lang="en-US" sz="1200" dirty="0" err="1"/>
              <a:t>obiectivelor</a:t>
            </a:r>
            <a:r>
              <a:rPr lang="en-US" sz="1200" dirty="0"/>
              <a:t> </a:t>
            </a:r>
            <a:r>
              <a:rPr lang="en-US" sz="1200" dirty="0" err="1"/>
              <a:t>și</a:t>
            </a:r>
            <a:endParaRPr lang="en-US" sz="1200" dirty="0"/>
          </a:p>
          <a:p>
            <a:pPr algn="ctr"/>
            <a:r>
              <a:rPr lang="en-US" sz="1200" dirty="0"/>
              <a:t>a </a:t>
            </a:r>
            <a:r>
              <a:rPr lang="en-US" sz="1200" dirty="0" err="1"/>
              <a:t>criteriilor</a:t>
            </a:r>
            <a:r>
              <a:rPr lang="en-US" sz="1200" dirty="0"/>
              <a:t> de </a:t>
            </a:r>
            <a:r>
              <a:rPr lang="en-US" sz="1200" dirty="0" err="1"/>
              <a:t>testare</a:t>
            </a:r>
            <a:r>
              <a:rPr lang="en-US" sz="1200" dirty="0"/>
              <a:t>,</a:t>
            </a:r>
          </a:p>
          <a:p>
            <a:pPr algn="ctr"/>
            <a:r>
              <a:rPr lang="en-US" sz="1200" dirty="0" err="1"/>
              <a:t>finalizarea</a:t>
            </a:r>
            <a:r>
              <a:rPr lang="en-US" sz="1200" dirty="0"/>
              <a:t> </a:t>
            </a:r>
            <a:r>
              <a:rPr lang="en-US" sz="1200" dirty="0" err="1"/>
              <a:t>documentației</a:t>
            </a:r>
            <a:endParaRPr lang="en-US" sz="1200" dirty="0"/>
          </a:p>
          <a:p>
            <a:pPr algn="ctr"/>
            <a:r>
              <a:rPr lang="en-US" sz="1200" dirty="0" err="1"/>
              <a:t>și</a:t>
            </a:r>
            <a:r>
              <a:rPr lang="en-US" sz="1200" dirty="0"/>
              <a:t> </a:t>
            </a:r>
            <a:r>
              <a:rPr lang="en-US" sz="1200" dirty="0" err="1"/>
              <a:t>pregătirea</a:t>
            </a:r>
            <a:r>
              <a:rPr lang="en-US" sz="1200" dirty="0"/>
              <a:t> </a:t>
            </a:r>
            <a:r>
              <a:rPr lang="en-US" sz="1200" dirty="0" err="1"/>
              <a:t>raportului</a:t>
            </a:r>
            <a:endParaRPr lang="en-US" sz="1200" dirty="0"/>
          </a:p>
          <a:p>
            <a:pPr algn="ctr"/>
            <a:r>
              <a:rPr lang="en-US" sz="1200" dirty="0"/>
              <a:t>final.</a:t>
            </a:r>
          </a:p>
        </p:txBody>
      </p:sp>
      <p:sp>
        <p:nvSpPr>
          <p:cNvPr id="12" name="Callout: Down Arrow 11">
            <a:extLst>
              <a:ext uri="{FF2B5EF4-FFF2-40B4-BE49-F238E27FC236}">
                <a16:creationId xmlns:a16="http://schemas.microsoft.com/office/drawing/2014/main" id="{834C70F4-6E46-E9BC-0B48-281D1B792160}"/>
              </a:ext>
            </a:extLst>
          </p:cNvPr>
          <p:cNvSpPr/>
          <p:nvPr/>
        </p:nvSpPr>
        <p:spPr>
          <a:xfrm>
            <a:off x="8292187" y="1405296"/>
            <a:ext cx="1741715" cy="1711807"/>
          </a:xfrm>
          <a:prstGeom prst="downArrowCallou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Configurarea</a:t>
            </a:r>
          </a:p>
          <a:p>
            <a:pPr algn="ctr"/>
            <a:r>
              <a:rPr lang="en-US" sz="1200"/>
              <a:t>mediului de</a:t>
            </a:r>
          </a:p>
          <a:p>
            <a:pPr algn="ctr"/>
            <a:r>
              <a:rPr lang="en-US" sz="1200"/>
              <a:t>testare,</a:t>
            </a:r>
          </a:p>
          <a:p>
            <a:pPr algn="ctr"/>
            <a:r>
              <a:rPr lang="en-US" sz="1200"/>
              <a:t>pregătirea datelor</a:t>
            </a:r>
          </a:p>
          <a:p>
            <a:pPr algn="ctr"/>
            <a:r>
              <a:rPr lang="en-US" sz="1200"/>
              <a:t>și resurselor</a:t>
            </a:r>
          </a:p>
          <a:p>
            <a:pPr algn="ctr"/>
            <a:r>
              <a:rPr lang="en-US" sz="1200"/>
              <a:t>pentru a executa</a:t>
            </a:r>
          </a:p>
          <a:p>
            <a:pPr algn="ctr"/>
            <a:r>
              <a:rPr lang="en-US" sz="1200"/>
              <a:t>testele.</a:t>
            </a:r>
            <a:endParaRPr lang="en-US" sz="1200" dirty="0"/>
          </a:p>
        </p:txBody>
      </p:sp>
      <p:sp>
        <p:nvSpPr>
          <p:cNvPr id="13" name="Callout: Down Arrow 12">
            <a:extLst>
              <a:ext uri="{FF2B5EF4-FFF2-40B4-BE49-F238E27FC236}">
                <a16:creationId xmlns:a16="http://schemas.microsoft.com/office/drawing/2014/main" id="{A6FBB3F4-4388-9BFB-EE06-C35E5185B195}"/>
              </a:ext>
            </a:extLst>
          </p:cNvPr>
          <p:cNvSpPr/>
          <p:nvPr/>
        </p:nvSpPr>
        <p:spPr>
          <a:xfrm>
            <a:off x="6240233" y="1405297"/>
            <a:ext cx="1741715" cy="1711807"/>
          </a:xfrm>
          <a:prstGeom prst="downArrowCallou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Rularea cazurilor</a:t>
            </a:r>
          </a:p>
          <a:p>
            <a:pPr algn="ctr"/>
            <a:r>
              <a:rPr lang="en-US" sz="1200"/>
              <a:t>de testare,</a:t>
            </a:r>
          </a:p>
          <a:p>
            <a:pPr algn="ctr"/>
            <a:r>
              <a:rPr lang="en-US" sz="1200"/>
              <a:t>înregistrarea</a:t>
            </a:r>
          </a:p>
          <a:p>
            <a:pPr algn="ctr"/>
            <a:r>
              <a:rPr lang="en-US" sz="1200"/>
              <a:t>rezultatelor și</a:t>
            </a:r>
          </a:p>
          <a:p>
            <a:pPr algn="ctr"/>
            <a:r>
              <a:rPr lang="en-US" sz="1200"/>
              <a:t>raportarea</a:t>
            </a:r>
          </a:p>
          <a:p>
            <a:pPr algn="ctr"/>
            <a:r>
              <a:rPr lang="en-US" sz="1200"/>
              <a:t>defectelor întâlnite.</a:t>
            </a:r>
            <a:endParaRPr lang="en-US" sz="1200" dirty="0"/>
          </a:p>
        </p:txBody>
      </p:sp>
      <p:sp>
        <p:nvSpPr>
          <p:cNvPr id="14" name="Callout: Down Arrow 13">
            <a:extLst>
              <a:ext uri="{FF2B5EF4-FFF2-40B4-BE49-F238E27FC236}">
                <a16:creationId xmlns:a16="http://schemas.microsoft.com/office/drawing/2014/main" id="{53D12F19-8957-11C5-2892-52F78E158910}"/>
              </a:ext>
            </a:extLst>
          </p:cNvPr>
          <p:cNvSpPr/>
          <p:nvPr/>
        </p:nvSpPr>
        <p:spPr>
          <a:xfrm>
            <a:off x="4188279" y="1405297"/>
            <a:ext cx="1741715" cy="1711807"/>
          </a:xfrm>
          <a:prstGeom prst="downArrowCallou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Crearea cazurilor</a:t>
            </a:r>
          </a:p>
          <a:p>
            <a:pPr algn="ctr"/>
            <a:r>
              <a:rPr lang="en-US" sz="1200"/>
              <a:t>de testare și a</a:t>
            </a:r>
          </a:p>
          <a:p>
            <a:pPr algn="ctr"/>
            <a:r>
              <a:rPr lang="en-US" sz="1200"/>
              <a:t>datelor de</a:t>
            </a:r>
          </a:p>
          <a:p>
            <a:pPr algn="ctr"/>
            <a:r>
              <a:rPr lang="en-US" sz="1200"/>
              <a:t>testare,</a:t>
            </a:r>
          </a:p>
          <a:p>
            <a:pPr algn="ctr"/>
            <a:r>
              <a:rPr lang="en-US" sz="1200"/>
              <a:t>planificarea</a:t>
            </a:r>
          </a:p>
          <a:p>
            <a:pPr algn="ctr"/>
            <a:r>
              <a:rPr lang="en-US" sz="1200"/>
              <a:t>metodelor de</a:t>
            </a:r>
          </a:p>
          <a:p>
            <a:pPr algn="ctr"/>
            <a:r>
              <a:rPr lang="en-US" sz="1200"/>
              <a:t>testare</a:t>
            </a:r>
            <a:endParaRPr lang="en-US" sz="1200" dirty="0"/>
          </a:p>
        </p:txBody>
      </p:sp>
      <p:sp>
        <p:nvSpPr>
          <p:cNvPr id="15" name="Callout: Down Arrow 14">
            <a:extLst>
              <a:ext uri="{FF2B5EF4-FFF2-40B4-BE49-F238E27FC236}">
                <a16:creationId xmlns:a16="http://schemas.microsoft.com/office/drawing/2014/main" id="{6462A4E5-0E50-436D-A1A1-0256EDD31535}"/>
              </a:ext>
            </a:extLst>
          </p:cNvPr>
          <p:cNvSpPr/>
          <p:nvPr/>
        </p:nvSpPr>
        <p:spPr>
          <a:xfrm>
            <a:off x="2136325" y="1405298"/>
            <a:ext cx="1741715" cy="1711807"/>
          </a:xfrm>
          <a:prstGeom prst="downArrowCallou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/>
              <a:t>Identificarea</a:t>
            </a:r>
          </a:p>
          <a:p>
            <a:pPr algn="ctr"/>
            <a:r>
              <a:rPr lang="it-IT" sz="1200"/>
              <a:t>scenariilor de</a:t>
            </a:r>
          </a:p>
          <a:p>
            <a:pPr algn="ctr"/>
            <a:r>
              <a:rPr lang="it-IT" sz="1200"/>
              <a:t>testare și</a:t>
            </a:r>
          </a:p>
          <a:p>
            <a:pPr algn="ctr"/>
            <a:r>
              <a:rPr lang="it-IT" sz="1200"/>
              <a:t>determinarea</a:t>
            </a:r>
          </a:p>
          <a:p>
            <a:pPr algn="ctr"/>
            <a:r>
              <a:rPr lang="it-IT" sz="1200"/>
              <a:t>strategiei și a</a:t>
            </a:r>
          </a:p>
          <a:p>
            <a:pPr algn="ctr"/>
            <a:r>
              <a:rPr lang="it-IT" sz="1200"/>
              <a:t>priorităților</a:t>
            </a:r>
            <a:endParaRPr lang="en-US" sz="1200" dirty="0"/>
          </a:p>
        </p:txBody>
      </p:sp>
      <p:sp>
        <p:nvSpPr>
          <p:cNvPr id="16" name="Callout: Down Arrow 15">
            <a:extLst>
              <a:ext uri="{FF2B5EF4-FFF2-40B4-BE49-F238E27FC236}">
                <a16:creationId xmlns:a16="http://schemas.microsoft.com/office/drawing/2014/main" id="{E303805B-15A4-84D1-D84A-E4F501792902}"/>
              </a:ext>
            </a:extLst>
          </p:cNvPr>
          <p:cNvSpPr/>
          <p:nvPr/>
        </p:nvSpPr>
        <p:spPr>
          <a:xfrm>
            <a:off x="78927" y="1405298"/>
            <a:ext cx="1741715" cy="1711807"/>
          </a:xfrm>
          <a:prstGeom prst="downArrowCallou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Stabilirea</a:t>
            </a:r>
            <a:endParaRPr lang="en-US" sz="1200" dirty="0"/>
          </a:p>
          <a:p>
            <a:pPr algn="ctr"/>
            <a:r>
              <a:rPr lang="en-US" sz="1200" dirty="0" err="1"/>
              <a:t>obiectivelor</a:t>
            </a:r>
            <a:r>
              <a:rPr lang="en-US" sz="1200" dirty="0"/>
              <a:t> </a:t>
            </a:r>
            <a:r>
              <a:rPr lang="en-US" sz="1200" dirty="0" err="1"/>
              <a:t>și</a:t>
            </a:r>
            <a:r>
              <a:rPr lang="en-US" sz="1200" dirty="0"/>
              <a:t> a</a:t>
            </a:r>
          </a:p>
          <a:p>
            <a:pPr algn="ctr"/>
            <a:r>
              <a:rPr lang="en-US" sz="1200" dirty="0" err="1"/>
              <a:t>resurselor</a:t>
            </a:r>
            <a:endParaRPr lang="en-US" sz="1200" dirty="0"/>
          </a:p>
          <a:p>
            <a:pPr algn="ctr"/>
            <a:r>
              <a:rPr lang="en-US" sz="1200" dirty="0" err="1"/>
              <a:t>testării</a:t>
            </a:r>
            <a:r>
              <a:rPr lang="en-US" sz="1200" dirty="0"/>
              <a:t>, </a:t>
            </a:r>
            <a:r>
              <a:rPr lang="en-US" sz="1200" dirty="0" err="1"/>
              <a:t>crearea</a:t>
            </a:r>
            <a:endParaRPr lang="en-US" sz="1200" dirty="0"/>
          </a:p>
          <a:p>
            <a:pPr algn="ctr"/>
            <a:r>
              <a:rPr lang="en-US" sz="1200" dirty="0" err="1"/>
              <a:t>planului</a:t>
            </a:r>
            <a:r>
              <a:rPr lang="en-US" sz="1200" dirty="0"/>
              <a:t> de</a:t>
            </a:r>
          </a:p>
          <a:p>
            <a:pPr algn="ctr"/>
            <a:r>
              <a:rPr lang="en-US" sz="1200" dirty="0" err="1"/>
              <a:t>testare</a:t>
            </a:r>
            <a:endParaRPr lang="en-US" sz="1200" dirty="0"/>
          </a:p>
        </p:txBody>
      </p:sp>
      <p:sp>
        <p:nvSpPr>
          <p:cNvPr id="21" name="Arrow: Pentagon 20">
            <a:extLst>
              <a:ext uri="{FF2B5EF4-FFF2-40B4-BE49-F238E27FC236}">
                <a16:creationId xmlns:a16="http://schemas.microsoft.com/office/drawing/2014/main" id="{5F33E96D-E323-40CF-A1B7-A23587EDADEC}"/>
              </a:ext>
            </a:extLst>
          </p:cNvPr>
          <p:cNvSpPr/>
          <p:nvPr/>
        </p:nvSpPr>
        <p:spPr>
          <a:xfrm>
            <a:off x="9987640" y="3128616"/>
            <a:ext cx="2079171" cy="653143"/>
          </a:xfrm>
          <a:prstGeom prst="homePlat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Test Completion</a:t>
            </a:r>
          </a:p>
        </p:txBody>
      </p:sp>
      <p:sp>
        <p:nvSpPr>
          <p:cNvPr id="19" name="Arrow: Pentagon 18">
            <a:extLst>
              <a:ext uri="{FF2B5EF4-FFF2-40B4-BE49-F238E27FC236}">
                <a16:creationId xmlns:a16="http://schemas.microsoft.com/office/drawing/2014/main" id="{02746653-075C-4924-0CD1-D1BF1FEF9761}"/>
              </a:ext>
            </a:extLst>
          </p:cNvPr>
          <p:cNvSpPr/>
          <p:nvPr/>
        </p:nvSpPr>
        <p:spPr>
          <a:xfrm>
            <a:off x="8033666" y="3177014"/>
            <a:ext cx="2079171" cy="653143"/>
          </a:xfrm>
          <a:prstGeom prst="homePlat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Test Execution </a:t>
            </a:r>
            <a:endParaRPr lang="en-US" dirty="0"/>
          </a:p>
        </p:txBody>
      </p:sp>
      <p:sp>
        <p:nvSpPr>
          <p:cNvPr id="20" name="Arrow: Pentagon 19">
            <a:extLst>
              <a:ext uri="{FF2B5EF4-FFF2-40B4-BE49-F238E27FC236}">
                <a16:creationId xmlns:a16="http://schemas.microsoft.com/office/drawing/2014/main" id="{1BCA899A-0334-39C4-6EC9-CBCE321ACBCD}"/>
              </a:ext>
            </a:extLst>
          </p:cNvPr>
          <p:cNvSpPr/>
          <p:nvPr/>
        </p:nvSpPr>
        <p:spPr>
          <a:xfrm>
            <a:off x="6057897" y="3185289"/>
            <a:ext cx="2079171" cy="653143"/>
          </a:xfrm>
          <a:prstGeom prst="homePlat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Test Implementation </a:t>
            </a:r>
          </a:p>
        </p:txBody>
      </p:sp>
      <p:sp>
        <p:nvSpPr>
          <p:cNvPr id="22" name="Arrow: Pentagon 21">
            <a:extLst>
              <a:ext uri="{FF2B5EF4-FFF2-40B4-BE49-F238E27FC236}">
                <a16:creationId xmlns:a16="http://schemas.microsoft.com/office/drawing/2014/main" id="{DE961BE2-6E4B-E51A-910A-11545F25C645}"/>
              </a:ext>
            </a:extLst>
          </p:cNvPr>
          <p:cNvSpPr/>
          <p:nvPr/>
        </p:nvSpPr>
        <p:spPr>
          <a:xfrm>
            <a:off x="4103923" y="3185289"/>
            <a:ext cx="2079171" cy="653143"/>
          </a:xfrm>
          <a:prstGeom prst="homePlat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Test Design</a:t>
            </a:r>
          </a:p>
        </p:txBody>
      </p:sp>
      <p:sp>
        <p:nvSpPr>
          <p:cNvPr id="18" name="Arrow: Pentagon 17">
            <a:extLst>
              <a:ext uri="{FF2B5EF4-FFF2-40B4-BE49-F238E27FC236}">
                <a16:creationId xmlns:a16="http://schemas.microsoft.com/office/drawing/2014/main" id="{01C57E6A-A429-129F-398D-B6B1E2CBD14E}"/>
              </a:ext>
            </a:extLst>
          </p:cNvPr>
          <p:cNvSpPr/>
          <p:nvPr/>
        </p:nvSpPr>
        <p:spPr>
          <a:xfrm>
            <a:off x="2062846" y="3185289"/>
            <a:ext cx="2079171" cy="653143"/>
          </a:xfrm>
          <a:prstGeom prst="homePlat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 </a:t>
            </a:r>
            <a:r>
              <a:rPr lang="en-US" dirty="0" err="1"/>
              <a:t>Analisys</a:t>
            </a:r>
            <a:r>
              <a:rPr lang="en-US" dirty="0"/>
              <a:t>  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442E154B-485E-3BF8-A977-EF6893408110}"/>
              </a:ext>
            </a:extLst>
          </p:cNvPr>
          <p:cNvSpPr/>
          <p:nvPr/>
        </p:nvSpPr>
        <p:spPr>
          <a:xfrm>
            <a:off x="78927" y="3185289"/>
            <a:ext cx="2079171" cy="653143"/>
          </a:xfrm>
          <a:prstGeom prst="homePlat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Test Planning</a:t>
            </a:r>
          </a:p>
        </p:txBody>
      </p:sp>
      <p:sp>
        <p:nvSpPr>
          <p:cNvPr id="23" name="Arrow: Left-Right 22">
            <a:extLst>
              <a:ext uri="{FF2B5EF4-FFF2-40B4-BE49-F238E27FC236}">
                <a16:creationId xmlns:a16="http://schemas.microsoft.com/office/drawing/2014/main" id="{2D29D3EC-057A-93C5-0A7E-E895DBB39C9E}"/>
              </a:ext>
            </a:extLst>
          </p:cNvPr>
          <p:cNvSpPr/>
          <p:nvPr/>
        </p:nvSpPr>
        <p:spPr>
          <a:xfrm>
            <a:off x="87099" y="3906616"/>
            <a:ext cx="12104901" cy="868240"/>
          </a:xfrm>
          <a:prstGeom prst="leftRight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Monitorizarea</a:t>
            </a:r>
            <a:r>
              <a:rPr lang="en-US" dirty="0"/>
              <a:t> </a:t>
            </a:r>
            <a:r>
              <a:rPr lang="en-US" dirty="0" err="1"/>
              <a:t>progresului</a:t>
            </a:r>
            <a:r>
              <a:rPr lang="en-US" dirty="0"/>
              <a:t> </a:t>
            </a:r>
            <a:r>
              <a:rPr lang="en-US" dirty="0" err="1"/>
              <a:t>testării</a:t>
            </a:r>
            <a:r>
              <a:rPr lang="en-US" dirty="0"/>
              <a:t>, </a:t>
            </a:r>
            <a:r>
              <a:rPr lang="en-US" dirty="0" err="1"/>
              <a:t>controlul</a:t>
            </a:r>
            <a:r>
              <a:rPr lang="en-US" dirty="0"/>
              <a:t> </a:t>
            </a:r>
            <a:r>
              <a:rPr lang="en-US" dirty="0" err="1"/>
              <a:t>activităților</a:t>
            </a:r>
            <a:r>
              <a:rPr lang="en-US" dirty="0"/>
              <a:t> de </a:t>
            </a:r>
            <a:r>
              <a:rPr lang="en-US" dirty="0" err="1"/>
              <a:t>testare</a:t>
            </a:r>
            <a:r>
              <a:rPr lang="en-US" dirty="0"/>
              <a:t>, </a:t>
            </a:r>
            <a:r>
              <a:rPr lang="en-US" dirty="0" err="1"/>
              <a:t>gestionarea</a:t>
            </a:r>
            <a:r>
              <a:rPr lang="en-US" dirty="0"/>
              <a:t> </a:t>
            </a:r>
            <a:r>
              <a:rPr lang="en-US" dirty="0" err="1"/>
              <a:t>resurselor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rezolvarea</a:t>
            </a:r>
            <a:r>
              <a:rPr lang="en-US" dirty="0"/>
              <a:t> </a:t>
            </a:r>
            <a:r>
              <a:rPr lang="en-US" dirty="0" err="1"/>
              <a:t>problemelor</a:t>
            </a:r>
            <a:r>
              <a:rPr lang="en-US" dirty="0"/>
              <a:t> </a:t>
            </a:r>
            <a:r>
              <a:rPr lang="en-US" dirty="0" err="1"/>
              <a:t>apărute</a:t>
            </a:r>
            <a:r>
              <a:rPr lang="en-US" dirty="0"/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647C9D-C7E9-0BDE-9F8A-08B433E304F8}"/>
              </a:ext>
            </a:extLst>
          </p:cNvPr>
          <p:cNvSpPr txBox="1"/>
          <p:nvPr/>
        </p:nvSpPr>
        <p:spPr>
          <a:xfrm>
            <a:off x="615043" y="4773584"/>
            <a:ext cx="265067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/>
              <a:t>Reprezintă</a:t>
            </a:r>
            <a:r>
              <a:rPr lang="en-US" dirty="0"/>
              <a:t> </a:t>
            </a:r>
            <a:r>
              <a:rPr lang="en-US" dirty="0" err="1"/>
              <a:t>testarea</a:t>
            </a:r>
            <a:endParaRPr lang="en-US" dirty="0"/>
          </a:p>
          <a:p>
            <a:pPr algn="ctr"/>
            <a:r>
              <a:rPr lang="en-US" dirty="0" err="1"/>
              <a:t>celei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mici</a:t>
            </a:r>
            <a:r>
              <a:rPr lang="en-US" dirty="0"/>
              <a:t> </a:t>
            </a:r>
            <a:r>
              <a:rPr lang="en-US" dirty="0" err="1"/>
              <a:t>bucăți</a:t>
            </a:r>
            <a:endParaRPr lang="en-US" dirty="0"/>
          </a:p>
          <a:p>
            <a:pPr algn="ctr"/>
            <a:r>
              <a:rPr lang="en-US" dirty="0" err="1"/>
              <a:t>funcționale</a:t>
            </a:r>
            <a:r>
              <a:rPr lang="en-US" dirty="0"/>
              <a:t> </a:t>
            </a:r>
            <a:r>
              <a:rPr lang="en-US" dirty="0" err="1"/>
              <a:t>dintr</a:t>
            </a:r>
            <a:r>
              <a:rPr lang="en-US" dirty="0"/>
              <a:t>-o</a:t>
            </a:r>
          </a:p>
          <a:p>
            <a:pPr algn="ctr"/>
            <a:r>
              <a:rPr lang="en-US" dirty="0" err="1"/>
              <a:t>aplicație</a:t>
            </a:r>
            <a:r>
              <a:rPr lang="en-US" dirty="0"/>
              <a:t> cum </a:t>
            </a:r>
            <a:r>
              <a:rPr lang="en-US" dirty="0" err="1"/>
              <a:t>ar</a:t>
            </a:r>
            <a:r>
              <a:rPr lang="en-US" dirty="0"/>
              <a:t> fi: </a:t>
            </a:r>
            <a:r>
              <a:rPr lang="en-US" dirty="0" err="1"/>
              <a:t>funcții</a:t>
            </a:r>
            <a:r>
              <a:rPr lang="en-US" dirty="0"/>
              <a:t>,</a:t>
            </a:r>
          </a:p>
          <a:p>
            <a:pPr algn="ctr"/>
            <a:r>
              <a:rPr lang="en-US" dirty="0" err="1"/>
              <a:t>clase</a:t>
            </a:r>
            <a:r>
              <a:rPr lang="en-US" dirty="0"/>
              <a:t>,</a:t>
            </a:r>
          </a:p>
          <a:p>
            <a:pPr algn="ctr"/>
            <a:r>
              <a:rPr lang="en-US" dirty="0" err="1"/>
              <a:t>proceduri</a:t>
            </a:r>
            <a:r>
              <a:rPr lang="en-US" dirty="0"/>
              <a:t>,</a:t>
            </a:r>
          </a:p>
          <a:p>
            <a:pPr algn="ctr"/>
            <a:r>
              <a:rPr lang="en-US" dirty="0" err="1"/>
              <a:t>interefețe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70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94AEC-65C3-995E-CAB6-F58763B42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36597"/>
            <a:ext cx="9905998" cy="949946"/>
          </a:xfrm>
        </p:spPr>
        <p:txBody>
          <a:bodyPr/>
          <a:lstStyle/>
          <a:p>
            <a:r>
              <a:rPr lang="en-US" dirty="0" err="1"/>
              <a:t>Partea</a:t>
            </a:r>
            <a:r>
              <a:rPr lang="en-US" dirty="0"/>
              <a:t> II - </a:t>
            </a:r>
            <a:r>
              <a:rPr lang="en-US" dirty="0" err="1"/>
              <a:t>aSPECTE</a:t>
            </a:r>
            <a:r>
              <a:rPr lang="en-US" dirty="0"/>
              <a:t> PRACTICE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0D5B73-B442-5A99-2FCE-F9B5D4A384DC}"/>
              </a:ext>
            </a:extLst>
          </p:cNvPr>
          <p:cNvSpPr txBox="1"/>
          <p:nvPr/>
        </p:nvSpPr>
        <p:spPr>
          <a:xfrm>
            <a:off x="1153886" y="1360714"/>
            <a:ext cx="99168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Testarea</a:t>
            </a:r>
            <a:r>
              <a:rPr lang="en-US" dirty="0"/>
              <a:t> API in Postman – site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documentatie</a:t>
            </a:r>
            <a:r>
              <a:rPr lang="en-US" dirty="0"/>
              <a:t> </a:t>
            </a:r>
            <a:r>
              <a:rPr lang="en-US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Inter"/>
                <a:hlinkClick r:id="rId2"/>
              </a:rPr>
              <a:t>https://reqres.in/api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Metoda</a:t>
            </a:r>
            <a:r>
              <a:rPr lang="en-US" dirty="0"/>
              <a:t> GET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D03E8D-D942-DA88-72E0-E40066B66D0E}"/>
              </a:ext>
            </a:extLst>
          </p:cNvPr>
          <p:cNvSpPr txBox="1"/>
          <p:nvPr/>
        </p:nvSpPr>
        <p:spPr>
          <a:xfrm>
            <a:off x="6956612" y="2458215"/>
            <a:ext cx="509195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Status 200 OK – </a:t>
            </a:r>
            <a:r>
              <a:rPr lang="en-US" b="0" i="0" dirty="0">
                <a:solidFill>
                  <a:srgbClr val="1B1B1B"/>
                </a:solidFill>
                <a:effectLst/>
                <a:highlight>
                  <a:srgbClr val="FFFFFF"/>
                </a:highlight>
                <a:latin typeface="Inter"/>
              </a:rPr>
              <a:t>The request succeeded</a:t>
            </a:r>
          </a:p>
          <a:p>
            <a:r>
              <a:rPr lang="en-US" dirty="0"/>
              <a:t>307 </a:t>
            </a:r>
            <a:r>
              <a:rPr lang="en-US" dirty="0" err="1"/>
              <a:t>ms</a:t>
            </a:r>
            <a:r>
              <a:rPr lang="en-US" dirty="0"/>
              <a:t> – </a:t>
            </a:r>
            <a:r>
              <a:rPr lang="en-US" dirty="0">
                <a:solidFill>
                  <a:srgbClr val="1B1B1B"/>
                </a:solidFill>
                <a:highlight>
                  <a:srgbClr val="FFFFFF"/>
                </a:highlight>
                <a:latin typeface="Inter"/>
              </a:rPr>
              <a:t>timpul de raspuns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GET (</a:t>
            </a:r>
            <a:r>
              <a:rPr lang="en-US" dirty="0" err="1"/>
              <a:t>Obține</a:t>
            </a:r>
            <a:r>
              <a:rPr lang="en-US" dirty="0"/>
              <a:t>):</a:t>
            </a:r>
          </a:p>
          <a:p>
            <a:r>
              <a:rPr lang="en-US" dirty="0"/>
              <a:t>Rol: </a:t>
            </a:r>
            <a:r>
              <a:rPr lang="en-US" dirty="0" err="1"/>
              <a:t>Solicită</a:t>
            </a:r>
            <a:r>
              <a:rPr lang="en-US" dirty="0"/>
              <a:t> </a:t>
            </a:r>
            <a:r>
              <a:rPr lang="en-US" dirty="0" err="1"/>
              <a:t>informații</a:t>
            </a:r>
            <a:r>
              <a:rPr lang="en-US" dirty="0"/>
              <a:t> de la un server.</a:t>
            </a:r>
          </a:p>
          <a:p>
            <a:r>
              <a:rPr lang="en-US" dirty="0" err="1"/>
              <a:t>Descriere</a:t>
            </a:r>
            <a:r>
              <a:rPr lang="en-US" dirty="0"/>
              <a:t>: </a:t>
            </a:r>
            <a:r>
              <a:rPr lang="en-US" dirty="0" err="1"/>
              <a:t>Comanda</a:t>
            </a:r>
            <a:r>
              <a:rPr lang="en-US" dirty="0"/>
              <a:t> GET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utilizată</a:t>
            </a:r>
            <a:r>
              <a:rPr lang="en-US" dirty="0"/>
              <a:t> pentru a </a:t>
            </a:r>
            <a:r>
              <a:rPr lang="en-US" dirty="0" err="1"/>
              <a:t>obține</a:t>
            </a:r>
            <a:r>
              <a:rPr lang="en-US" dirty="0"/>
              <a:t> date de la un URL specific. </a:t>
            </a:r>
            <a:r>
              <a:rPr lang="en-US" dirty="0" err="1"/>
              <a:t>Răspunsul</a:t>
            </a:r>
            <a:r>
              <a:rPr lang="en-US" dirty="0"/>
              <a:t> </a:t>
            </a:r>
            <a:r>
              <a:rPr lang="en-US" dirty="0" err="1"/>
              <a:t>conține</a:t>
            </a:r>
            <a:r>
              <a:rPr lang="en-US" dirty="0"/>
              <a:t> </a:t>
            </a:r>
            <a:r>
              <a:rPr lang="en-US" dirty="0" err="1"/>
              <a:t>informațiile</a:t>
            </a:r>
            <a:r>
              <a:rPr lang="en-US" dirty="0"/>
              <a:t> </a:t>
            </a:r>
            <a:r>
              <a:rPr lang="en-US" dirty="0" err="1"/>
              <a:t>cerute</a:t>
            </a:r>
            <a:r>
              <a:rPr lang="en-US" dirty="0"/>
              <a:t>, cum </a:t>
            </a:r>
            <a:r>
              <a:rPr lang="en-US" dirty="0" err="1"/>
              <a:t>ar</a:t>
            </a:r>
            <a:r>
              <a:rPr lang="en-US" dirty="0"/>
              <a:t> fi </a:t>
            </a:r>
            <a:r>
              <a:rPr lang="en-US" dirty="0" err="1"/>
              <a:t>pagini</a:t>
            </a:r>
            <a:r>
              <a:rPr lang="en-US" dirty="0"/>
              <a:t> web, </a:t>
            </a:r>
            <a:r>
              <a:rPr lang="en-US" dirty="0" err="1"/>
              <a:t>imagini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alte</a:t>
            </a:r>
            <a:r>
              <a:rPr lang="en-US" dirty="0"/>
              <a:t> </a:t>
            </a:r>
            <a:r>
              <a:rPr lang="en-US" dirty="0" err="1"/>
              <a:t>resurse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DC695B-6496-3188-D219-7A1F61A35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943" y="2394307"/>
            <a:ext cx="5294939" cy="3164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787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94AEC-65C3-995E-CAB6-F58763B42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36597"/>
            <a:ext cx="9905998" cy="949946"/>
          </a:xfrm>
        </p:spPr>
        <p:txBody>
          <a:bodyPr/>
          <a:lstStyle/>
          <a:p>
            <a:r>
              <a:rPr lang="en-US" dirty="0" err="1"/>
              <a:t>Partea</a:t>
            </a:r>
            <a:r>
              <a:rPr lang="en-US" dirty="0"/>
              <a:t> II - </a:t>
            </a:r>
            <a:r>
              <a:rPr lang="en-US" dirty="0" err="1"/>
              <a:t>aSPECTE</a:t>
            </a:r>
            <a:r>
              <a:rPr lang="en-US" dirty="0"/>
              <a:t> PRACTICE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0D5B73-B442-5A99-2FCE-F9B5D4A384DC}"/>
              </a:ext>
            </a:extLst>
          </p:cNvPr>
          <p:cNvSpPr txBox="1"/>
          <p:nvPr/>
        </p:nvSpPr>
        <p:spPr>
          <a:xfrm>
            <a:off x="1153886" y="1360714"/>
            <a:ext cx="9916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Metoda</a:t>
            </a:r>
            <a:r>
              <a:rPr lang="en-US" dirty="0"/>
              <a:t> GET – </a:t>
            </a:r>
            <a:r>
              <a:rPr lang="en-US" dirty="0" err="1"/>
              <a:t>lista</a:t>
            </a:r>
            <a:r>
              <a:rPr lang="en-US" dirty="0"/>
              <a:t> users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FBA766-0AFA-1495-0B6A-AA1C02851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812" y="1852308"/>
            <a:ext cx="7810901" cy="4769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722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94AEC-65C3-995E-CAB6-F58763B42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36597"/>
            <a:ext cx="9905998" cy="949946"/>
          </a:xfrm>
        </p:spPr>
        <p:txBody>
          <a:bodyPr/>
          <a:lstStyle/>
          <a:p>
            <a:r>
              <a:rPr lang="en-US" dirty="0" err="1"/>
              <a:t>Partea</a:t>
            </a:r>
            <a:r>
              <a:rPr lang="en-US" dirty="0"/>
              <a:t> II - </a:t>
            </a:r>
            <a:r>
              <a:rPr lang="en-US" dirty="0" err="1"/>
              <a:t>aSPECTE</a:t>
            </a:r>
            <a:r>
              <a:rPr lang="en-US" dirty="0"/>
              <a:t> PRACTICE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0D5B73-B442-5A99-2FCE-F9B5D4A384DC}"/>
              </a:ext>
            </a:extLst>
          </p:cNvPr>
          <p:cNvSpPr txBox="1"/>
          <p:nvPr/>
        </p:nvSpPr>
        <p:spPr>
          <a:xfrm>
            <a:off x="1153886" y="1360714"/>
            <a:ext cx="9916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Metoda</a:t>
            </a:r>
            <a:r>
              <a:rPr lang="en-US" dirty="0"/>
              <a:t> DELETE – Delete user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7D66C-EACA-4989-8C7F-0EBD48FDB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616" y="2082190"/>
            <a:ext cx="6331643" cy="34938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32272C-EADA-DD29-DD16-C3292D78E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1880" y="2082190"/>
            <a:ext cx="2018137" cy="3693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875A1E7-5DE0-522C-C209-188A31810EE9}"/>
              </a:ext>
            </a:extLst>
          </p:cNvPr>
          <p:cNvSpPr txBox="1"/>
          <p:nvPr/>
        </p:nvSpPr>
        <p:spPr>
          <a:xfrm>
            <a:off x="7256929" y="2704237"/>
            <a:ext cx="4146177" cy="1672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DELETE (</a:t>
            </a:r>
            <a:r>
              <a:rPr lang="en-US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Șterge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Rol: </a:t>
            </a:r>
            <a:r>
              <a:rPr lang="en-US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Șterge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 </a:t>
            </a:r>
            <a:r>
              <a:rPr lang="en-US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resursă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 pe server.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Descriere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en-US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Comanda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DELETE </a:t>
            </a:r>
            <a:r>
              <a:rPr lang="en-US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este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folosită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pentru a </a:t>
            </a:r>
            <a:r>
              <a:rPr lang="en-US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șterge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 </a:t>
            </a:r>
            <a:r>
              <a:rPr lang="en-US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resursă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specifică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 pe server. De exemplu, </a:t>
            </a:r>
            <a:r>
              <a:rPr lang="en-US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poți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șterge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un </a:t>
            </a:r>
            <a:r>
              <a:rPr lang="en-US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articol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dintr-un blog </a:t>
            </a:r>
            <a:r>
              <a:rPr lang="en-US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sau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un </a:t>
            </a:r>
            <a:r>
              <a:rPr lang="en-US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utilizator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dintr-o </a:t>
            </a:r>
            <a:r>
              <a:rPr lang="en-US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bază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 date.</a:t>
            </a:r>
          </a:p>
        </p:txBody>
      </p:sp>
    </p:spTree>
    <p:extLst>
      <p:ext uri="{BB962C8B-B14F-4D97-AF65-F5344CB8AC3E}">
        <p14:creationId xmlns:p14="http://schemas.microsoft.com/office/powerpoint/2010/main" val="3082827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94AEC-65C3-995E-CAB6-F58763B42E1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36538"/>
            <a:ext cx="9906000" cy="949325"/>
          </a:xfrm>
        </p:spPr>
        <p:txBody>
          <a:bodyPr/>
          <a:lstStyle/>
          <a:p>
            <a:r>
              <a:rPr lang="en-US" dirty="0" err="1"/>
              <a:t>Partea</a:t>
            </a:r>
            <a:r>
              <a:rPr lang="en-US" dirty="0"/>
              <a:t> II - </a:t>
            </a:r>
            <a:r>
              <a:rPr lang="en-US" dirty="0" err="1"/>
              <a:t>aSPECTE</a:t>
            </a:r>
            <a:r>
              <a:rPr lang="en-US" dirty="0"/>
              <a:t> PRACTICE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0D5B73-B442-5A99-2FCE-F9B5D4A384DC}"/>
              </a:ext>
            </a:extLst>
          </p:cNvPr>
          <p:cNvSpPr txBox="1"/>
          <p:nvPr/>
        </p:nvSpPr>
        <p:spPr>
          <a:xfrm>
            <a:off x="1153886" y="1360714"/>
            <a:ext cx="9916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Metoda</a:t>
            </a:r>
            <a:r>
              <a:rPr lang="en-US" dirty="0"/>
              <a:t> GET – resource – </a:t>
            </a:r>
            <a:r>
              <a:rPr lang="en-US" dirty="0" err="1"/>
              <a:t>identifica</a:t>
            </a:r>
            <a:r>
              <a:rPr lang="en-US" dirty="0"/>
              <a:t> </a:t>
            </a:r>
            <a:r>
              <a:rPr lang="en-US" dirty="0" err="1"/>
              <a:t>resursa</a:t>
            </a:r>
            <a:r>
              <a:rPr lang="en-US" dirty="0"/>
              <a:t>/</a:t>
            </a:r>
            <a:r>
              <a:rPr lang="en-US" dirty="0" err="1"/>
              <a:t>situl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4EB664-145C-CEB7-070F-2178F34C3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366" y="1833257"/>
            <a:ext cx="7931558" cy="47881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2AD439-D0E5-9268-113C-205CE7608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9377" y="1833257"/>
            <a:ext cx="2934222" cy="15016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9EEA57-8FB4-CCEB-3816-A932FB17274A}"/>
              </a:ext>
            </a:extLst>
          </p:cNvPr>
          <p:cNvSpPr txBox="1"/>
          <p:nvPr/>
        </p:nvSpPr>
        <p:spPr>
          <a:xfrm>
            <a:off x="9101418" y="3523130"/>
            <a:ext cx="3000935" cy="1339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Rezultatul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adus de </a:t>
            </a:r>
            <a:r>
              <a:rPr lang="en-US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comnda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 urma </a:t>
            </a:r>
            <a:r>
              <a:rPr lang="en-US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interogarii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Aici avem </a:t>
            </a:r>
            <a:r>
              <a:rPr lang="en-US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detaliile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unei </a:t>
            </a:r>
            <a:r>
              <a:rPr lang="en-US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reurse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/site in </a:t>
            </a:r>
            <a:r>
              <a:rPr lang="en-US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limbaj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  programare JSON.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564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94AEC-65C3-995E-CAB6-F58763B42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36597"/>
            <a:ext cx="9905998" cy="949946"/>
          </a:xfrm>
        </p:spPr>
        <p:txBody>
          <a:bodyPr/>
          <a:lstStyle/>
          <a:p>
            <a:r>
              <a:rPr lang="en-US" dirty="0" err="1"/>
              <a:t>Partea</a:t>
            </a:r>
            <a:r>
              <a:rPr lang="en-US" dirty="0"/>
              <a:t> II - </a:t>
            </a:r>
            <a:r>
              <a:rPr lang="en-US" dirty="0" err="1"/>
              <a:t>aSPECTE</a:t>
            </a:r>
            <a:r>
              <a:rPr lang="en-US" dirty="0"/>
              <a:t> PRACTICE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0D5B73-B442-5A99-2FCE-F9B5D4A384DC}"/>
              </a:ext>
            </a:extLst>
          </p:cNvPr>
          <p:cNvSpPr txBox="1"/>
          <p:nvPr/>
        </p:nvSpPr>
        <p:spPr>
          <a:xfrm>
            <a:off x="1153886" y="1360714"/>
            <a:ext cx="9916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Comanda</a:t>
            </a:r>
            <a:r>
              <a:rPr lang="en-US" dirty="0"/>
              <a:t> PUT – user ID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7797C0-0714-CE12-FDC9-8845AF969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1" y="2031640"/>
            <a:ext cx="7963309" cy="35879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37A619-0A97-D384-0B59-D8B457DC6AD4}"/>
              </a:ext>
            </a:extLst>
          </p:cNvPr>
          <p:cNvSpPr txBox="1"/>
          <p:nvPr/>
        </p:nvSpPr>
        <p:spPr>
          <a:xfrm>
            <a:off x="8986710" y="2031640"/>
            <a:ext cx="299910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PUT (</a:t>
            </a:r>
            <a:r>
              <a:rPr lang="en-US" sz="1400" dirty="0" err="1"/>
              <a:t>Înlocuiește</a:t>
            </a:r>
            <a:r>
              <a:rPr lang="en-US" sz="1400" dirty="0"/>
              <a:t>):</a:t>
            </a:r>
          </a:p>
          <a:p>
            <a:r>
              <a:rPr lang="en-US" sz="1400" dirty="0"/>
              <a:t>Rol: </a:t>
            </a:r>
            <a:r>
              <a:rPr lang="en-US" sz="1400" dirty="0" err="1"/>
              <a:t>Înlocuiește</a:t>
            </a:r>
            <a:r>
              <a:rPr lang="en-US" sz="1400" dirty="0"/>
              <a:t> complet o </a:t>
            </a:r>
            <a:r>
              <a:rPr lang="en-US" sz="1400" dirty="0" err="1"/>
              <a:t>resursă</a:t>
            </a:r>
            <a:r>
              <a:rPr lang="en-US" sz="1400" dirty="0"/>
              <a:t> </a:t>
            </a:r>
            <a:r>
              <a:rPr lang="en-US" sz="1400" dirty="0" err="1"/>
              <a:t>existentă</a:t>
            </a:r>
            <a:r>
              <a:rPr lang="en-US" sz="1400" dirty="0"/>
              <a:t> </a:t>
            </a:r>
            <a:r>
              <a:rPr lang="en-US" sz="1400" dirty="0" err="1"/>
              <a:t>sau</a:t>
            </a:r>
            <a:r>
              <a:rPr lang="en-US" sz="1400" dirty="0"/>
              <a:t> o </a:t>
            </a:r>
            <a:r>
              <a:rPr lang="en-US" sz="1400" dirty="0" err="1"/>
              <a:t>creează</a:t>
            </a:r>
            <a:r>
              <a:rPr lang="en-US" sz="1400" dirty="0"/>
              <a:t> </a:t>
            </a:r>
            <a:r>
              <a:rPr lang="en-US" sz="1400" dirty="0" err="1"/>
              <a:t>dacă</a:t>
            </a:r>
            <a:r>
              <a:rPr lang="en-US" sz="1400" dirty="0"/>
              <a:t> nu există.</a:t>
            </a:r>
          </a:p>
          <a:p>
            <a:r>
              <a:rPr lang="en-US" sz="1400" dirty="0" err="1"/>
              <a:t>Descriere</a:t>
            </a:r>
            <a:r>
              <a:rPr lang="en-US" sz="1400" dirty="0"/>
              <a:t>: </a:t>
            </a:r>
            <a:r>
              <a:rPr lang="en-US" sz="1400" dirty="0" err="1"/>
              <a:t>Comanda</a:t>
            </a:r>
            <a:r>
              <a:rPr lang="en-US" sz="1400" dirty="0"/>
              <a:t> PUT </a:t>
            </a:r>
            <a:r>
              <a:rPr lang="en-US" sz="1400" dirty="0" err="1"/>
              <a:t>este</a:t>
            </a:r>
            <a:r>
              <a:rPr lang="en-US" sz="1400" dirty="0"/>
              <a:t> </a:t>
            </a:r>
            <a:r>
              <a:rPr lang="en-US" sz="1400" dirty="0" err="1"/>
              <a:t>folosită</a:t>
            </a:r>
            <a:r>
              <a:rPr lang="en-US" sz="1400" dirty="0"/>
              <a:t> pentru a </a:t>
            </a:r>
            <a:r>
              <a:rPr lang="en-US" sz="1400" dirty="0" err="1"/>
              <a:t>înlocui</a:t>
            </a:r>
            <a:r>
              <a:rPr lang="en-US" sz="1400" dirty="0"/>
              <a:t> complet o </a:t>
            </a:r>
            <a:r>
              <a:rPr lang="en-US" sz="1400" dirty="0" err="1"/>
              <a:t>resursă</a:t>
            </a:r>
            <a:r>
              <a:rPr lang="en-US" sz="1400" dirty="0"/>
              <a:t> </a:t>
            </a:r>
            <a:r>
              <a:rPr lang="en-US" sz="1400" dirty="0" err="1"/>
              <a:t>existentă</a:t>
            </a:r>
            <a:r>
              <a:rPr lang="en-US" sz="1400" dirty="0"/>
              <a:t> cu </a:t>
            </a:r>
            <a:r>
              <a:rPr lang="en-US" sz="1400" dirty="0" err="1"/>
              <a:t>una</a:t>
            </a:r>
            <a:r>
              <a:rPr lang="en-US" sz="1400" dirty="0"/>
              <a:t> </a:t>
            </a:r>
            <a:r>
              <a:rPr lang="en-US" sz="1400" dirty="0" err="1"/>
              <a:t>nouă</a:t>
            </a:r>
            <a:r>
              <a:rPr lang="en-US" sz="1400" dirty="0"/>
              <a:t>. </a:t>
            </a:r>
            <a:r>
              <a:rPr lang="en-US" sz="1400" dirty="0" err="1"/>
              <a:t>Dacă</a:t>
            </a:r>
            <a:r>
              <a:rPr lang="en-US" sz="1400" dirty="0"/>
              <a:t> </a:t>
            </a:r>
            <a:r>
              <a:rPr lang="en-US" sz="1400" dirty="0" err="1"/>
              <a:t>resursa</a:t>
            </a:r>
            <a:r>
              <a:rPr lang="en-US" sz="1400" dirty="0"/>
              <a:t> nu există, </a:t>
            </a:r>
            <a:r>
              <a:rPr lang="en-US" sz="1400" dirty="0" err="1"/>
              <a:t>este</a:t>
            </a:r>
            <a:r>
              <a:rPr lang="en-US" sz="1400" dirty="0"/>
              <a:t> </a:t>
            </a:r>
            <a:r>
              <a:rPr lang="en-US" sz="1400" dirty="0" err="1"/>
              <a:t>creată</a:t>
            </a:r>
            <a:r>
              <a:rPr lang="en-US" sz="1400" dirty="0"/>
              <a:t>. Este </a:t>
            </a:r>
            <a:r>
              <a:rPr lang="en-US" sz="1400" dirty="0" err="1"/>
              <a:t>utilizată</a:t>
            </a:r>
            <a:r>
              <a:rPr lang="en-US" sz="1400" dirty="0"/>
              <a:t> pentru </a:t>
            </a:r>
            <a:r>
              <a:rPr lang="en-US" sz="1400" dirty="0" err="1"/>
              <a:t>actualizări</a:t>
            </a:r>
            <a:r>
              <a:rPr lang="en-US" sz="1400" dirty="0"/>
              <a:t> complete.</a:t>
            </a:r>
          </a:p>
        </p:txBody>
      </p:sp>
    </p:spTree>
    <p:extLst>
      <p:ext uri="{BB962C8B-B14F-4D97-AF65-F5344CB8AC3E}">
        <p14:creationId xmlns:p14="http://schemas.microsoft.com/office/powerpoint/2010/main" val="1766814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94AEC-65C3-995E-CAB6-F58763B42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36597"/>
            <a:ext cx="9905998" cy="949946"/>
          </a:xfrm>
        </p:spPr>
        <p:txBody>
          <a:bodyPr/>
          <a:lstStyle/>
          <a:p>
            <a:r>
              <a:rPr lang="en-US" dirty="0" err="1"/>
              <a:t>Partea</a:t>
            </a:r>
            <a:r>
              <a:rPr lang="en-US" dirty="0"/>
              <a:t> II - </a:t>
            </a:r>
            <a:r>
              <a:rPr lang="en-US" dirty="0" err="1"/>
              <a:t>aSPECTE</a:t>
            </a:r>
            <a:r>
              <a:rPr lang="en-US" dirty="0"/>
              <a:t> PRACTICE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0D5B73-B442-5A99-2FCE-F9B5D4A384DC}"/>
              </a:ext>
            </a:extLst>
          </p:cNvPr>
          <p:cNvSpPr txBox="1"/>
          <p:nvPr/>
        </p:nvSpPr>
        <p:spPr>
          <a:xfrm>
            <a:off x="1153886" y="1360714"/>
            <a:ext cx="9916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Comanda</a:t>
            </a:r>
            <a:r>
              <a:rPr lang="en-US" dirty="0"/>
              <a:t> POST  – user not found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F8F04C-BC16-9BFF-0702-65F0104A5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95" y="2090964"/>
            <a:ext cx="6843297" cy="36958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006372-7080-66BB-F653-D5859E795617}"/>
              </a:ext>
            </a:extLst>
          </p:cNvPr>
          <p:cNvSpPr txBox="1"/>
          <p:nvPr/>
        </p:nvSpPr>
        <p:spPr>
          <a:xfrm>
            <a:off x="7376922" y="2294466"/>
            <a:ext cx="4720590" cy="1763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POST (Trimite)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Rol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Trimite date </a:t>
            </a:r>
            <a:r>
              <a:rPr lang="en-US" sz="11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către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un server pentru a fi </a:t>
            </a:r>
            <a:r>
              <a:rPr lang="en-US" sz="11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procesate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Descriere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en-US" sz="11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Comanda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POST </a:t>
            </a:r>
            <a:r>
              <a:rPr lang="en-US" sz="11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este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1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folosită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pentru a trimite date </a:t>
            </a:r>
            <a:r>
              <a:rPr lang="en-US" sz="11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către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server, de exemplu, pentru a </a:t>
            </a:r>
            <a:r>
              <a:rPr lang="en-US" sz="11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un nou obiect </a:t>
            </a:r>
            <a:r>
              <a:rPr lang="en-US" sz="11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sau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</a:t>
            </a:r>
            <a:r>
              <a:rPr lang="en-US" sz="11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efectua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 </a:t>
            </a:r>
            <a:r>
              <a:rPr lang="en-US" sz="11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acțiune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De </a:t>
            </a:r>
            <a:r>
              <a:rPr lang="en-US" sz="11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obicei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1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este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1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utilizată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în </a:t>
            </a:r>
            <a:r>
              <a:rPr lang="en-US" sz="11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formulare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web </a:t>
            </a:r>
            <a:r>
              <a:rPr lang="en-US" sz="11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sau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pentru a </a:t>
            </a:r>
            <a:r>
              <a:rPr lang="en-US" sz="11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adăuga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date într-o </a:t>
            </a:r>
            <a:r>
              <a:rPr lang="en-US" sz="11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bază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 date.</a:t>
            </a:r>
          </a:p>
          <a:p>
            <a:pPr algn="l"/>
            <a:endParaRPr lang="en-US" b="0" i="0" dirty="0">
              <a:solidFill>
                <a:srgbClr val="111111"/>
              </a:solidFill>
              <a:effectLst/>
              <a:highlight>
                <a:srgbClr val="F7F7F7"/>
              </a:highlight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611717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94AEC-65C3-995E-CAB6-F58763B42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36597"/>
            <a:ext cx="9905998" cy="949946"/>
          </a:xfrm>
        </p:spPr>
        <p:txBody>
          <a:bodyPr/>
          <a:lstStyle/>
          <a:p>
            <a:r>
              <a:rPr lang="en-US" dirty="0" err="1"/>
              <a:t>Partea</a:t>
            </a:r>
            <a:r>
              <a:rPr lang="en-US" dirty="0"/>
              <a:t> II - </a:t>
            </a:r>
            <a:r>
              <a:rPr lang="en-US" dirty="0" err="1"/>
              <a:t>aSPECTE</a:t>
            </a:r>
            <a:r>
              <a:rPr lang="en-US" dirty="0"/>
              <a:t> PRACTICE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0D5B73-B442-5A99-2FCE-F9B5D4A384DC}"/>
              </a:ext>
            </a:extLst>
          </p:cNvPr>
          <p:cNvSpPr txBox="1"/>
          <p:nvPr/>
        </p:nvSpPr>
        <p:spPr>
          <a:xfrm>
            <a:off x="1153886" y="1360714"/>
            <a:ext cx="9916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Metoda</a:t>
            </a:r>
            <a:r>
              <a:rPr lang="en-US" dirty="0"/>
              <a:t> POST – </a:t>
            </a:r>
            <a:r>
              <a:rPr lang="en-US" dirty="0" err="1"/>
              <a:t>Creare</a:t>
            </a:r>
            <a:r>
              <a:rPr lang="en-US" dirty="0"/>
              <a:t> user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000C39-C54A-1D7F-AE46-FE966D5FC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1" y="2017352"/>
            <a:ext cx="7912507" cy="434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078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94AEC-65C3-995E-CAB6-F58763B42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36597"/>
            <a:ext cx="9905998" cy="949946"/>
          </a:xfrm>
        </p:spPr>
        <p:txBody>
          <a:bodyPr/>
          <a:lstStyle/>
          <a:p>
            <a:r>
              <a:rPr lang="en-US" dirty="0" err="1"/>
              <a:t>Partea</a:t>
            </a:r>
            <a:r>
              <a:rPr lang="en-US" dirty="0"/>
              <a:t> II - </a:t>
            </a:r>
            <a:r>
              <a:rPr lang="en-US" dirty="0" err="1"/>
              <a:t>aSPECTE</a:t>
            </a:r>
            <a:r>
              <a:rPr lang="en-US" dirty="0"/>
              <a:t> PRACTICE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0D5B73-B442-5A99-2FCE-F9B5D4A384DC}"/>
              </a:ext>
            </a:extLst>
          </p:cNvPr>
          <p:cNvSpPr txBox="1"/>
          <p:nvPr/>
        </p:nvSpPr>
        <p:spPr>
          <a:xfrm>
            <a:off x="1153886" y="1360714"/>
            <a:ext cx="9916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Metoda</a:t>
            </a:r>
            <a:r>
              <a:rPr lang="en-US" dirty="0"/>
              <a:t> POST – </a:t>
            </a:r>
            <a:r>
              <a:rPr lang="en-US" dirty="0" err="1"/>
              <a:t>Creare</a:t>
            </a:r>
            <a:r>
              <a:rPr lang="en-US" dirty="0"/>
              <a:t> user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000C39-C54A-1D7F-AE46-FE966D5FC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1" y="2017352"/>
            <a:ext cx="7912507" cy="434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286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94AEC-65C3-995E-CAB6-F58763B42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36597"/>
            <a:ext cx="9905998" cy="949946"/>
          </a:xfrm>
        </p:spPr>
        <p:txBody>
          <a:bodyPr/>
          <a:lstStyle/>
          <a:p>
            <a:r>
              <a:rPr lang="en-US" dirty="0" err="1"/>
              <a:t>Partea</a:t>
            </a:r>
            <a:r>
              <a:rPr lang="en-US" dirty="0"/>
              <a:t> II - </a:t>
            </a:r>
            <a:r>
              <a:rPr lang="en-US" dirty="0" err="1"/>
              <a:t>aSPECTE</a:t>
            </a:r>
            <a:r>
              <a:rPr lang="en-US" dirty="0"/>
              <a:t> PRACTICE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0D5B73-B442-5A99-2FCE-F9B5D4A384DC}"/>
              </a:ext>
            </a:extLst>
          </p:cNvPr>
          <p:cNvSpPr txBox="1"/>
          <p:nvPr/>
        </p:nvSpPr>
        <p:spPr>
          <a:xfrm>
            <a:off x="1153886" y="1360714"/>
            <a:ext cx="9916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Metoda</a:t>
            </a:r>
            <a:r>
              <a:rPr lang="en-US" dirty="0"/>
              <a:t> POST – Login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6BB499-80A9-33D5-8DB7-9CECD0E87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1" y="1995318"/>
            <a:ext cx="6279775" cy="434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394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94AEC-65C3-995E-CAB6-F58763B42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36597"/>
            <a:ext cx="9905998" cy="949946"/>
          </a:xfrm>
        </p:spPr>
        <p:txBody>
          <a:bodyPr/>
          <a:lstStyle/>
          <a:p>
            <a:r>
              <a:rPr lang="en-US" dirty="0" err="1"/>
              <a:t>concluzii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76636E-E6DC-97DA-E813-81E0E775BEF0}"/>
              </a:ext>
            </a:extLst>
          </p:cNvPr>
          <p:cNvSpPr txBox="1"/>
          <p:nvPr/>
        </p:nvSpPr>
        <p:spPr>
          <a:xfrm>
            <a:off x="566057" y="1186543"/>
            <a:ext cx="1147354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 1. </a:t>
            </a:r>
            <a:r>
              <a:rPr lang="en-US" b="1" dirty="0" err="1"/>
              <a:t>Validarea</a:t>
            </a:r>
            <a:r>
              <a:rPr lang="en-US" b="1" dirty="0"/>
              <a:t> API-</a:t>
            </a:r>
            <a:r>
              <a:rPr lang="en-US" b="1" dirty="0" err="1"/>
              <a:t>ului</a:t>
            </a:r>
            <a:r>
              <a:rPr lang="en-US" b="1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Funcționalitate</a:t>
            </a:r>
            <a:r>
              <a:rPr lang="en-US" b="1" dirty="0"/>
              <a:t>:</a:t>
            </a:r>
            <a:r>
              <a:rPr lang="en-US" dirty="0"/>
              <a:t> API-</a:t>
            </a:r>
            <a:r>
              <a:rPr lang="en-US" dirty="0" err="1"/>
              <a:t>ul</a:t>
            </a:r>
            <a:r>
              <a:rPr lang="en-US" dirty="0"/>
              <a:t>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testat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detaliu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se </a:t>
            </a:r>
            <a:r>
              <a:rPr lang="en-US" dirty="0" err="1"/>
              <a:t>asigura</a:t>
            </a:r>
            <a:r>
              <a:rPr lang="en-US" dirty="0"/>
              <a:t> </a:t>
            </a:r>
            <a:r>
              <a:rPr lang="en-US" dirty="0" err="1"/>
              <a:t>că</a:t>
            </a:r>
            <a:r>
              <a:rPr lang="en-US" dirty="0"/>
              <a:t>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funcționalitățile</a:t>
            </a:r>
            <a:r>
              <a:rPr lang="en-US" dirty="0"/>
              <a:t> sale </a:t>
            </a:r>
            <a:r>
              <a:rPr lang="en-US" dirty="0" err="1"/>
              <a:t>corespund</a:t>
            </a:r>
            <a:r>
              <a:rPr lang="en-US" dirty="0"/>
              <a:t> </a:t>
            </a:r>
            <a:r>
              <a:rPr lang="en-US" dirty="0" err="1"/>
              <a:t>specificațiilor</a:t>
            </a:r>
            <a:r>
              <a:rPr lang="en-US" dirty="0"/>
              <a:t> </a:t>
            </a:r>
            <a:r>
              <a:rPr lang="en-US" dirty="0" err="1"/>
              <a:t>inițiale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Erori</a:t>
            </a:r>
            <a:r>
              <a:rPr lang="en-US" b="1" dirty="0"/>
              <a:t> </a:t>
            </a:r>
            <a:r>
              <a:rPr lang="en-US" b="1" dirty="0" err="1"/>
              <a:t>și</a:t>
            </a:r>
            <a:r>
              <a:rPr lang="en-US" b="1" dirty="0"/>
              <a:t> </a:t>
            </a:r>
            <a:r>
              <a:rPr lang="en-US" b="1" dirty="0" err="1"/>
              <a:t>rezolvarea</a:t>
            </a:r>
            <a:r>
              <a:rPr lang="en-US" b="1" dirty="0"/>
              <a:t> lor:</a:t>
            </a:r>
            <a:r>
              <a:rPr lang="en-US" dirty="0"/>
              <a:t> Au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identificate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corectate</a:t>
            </a:r>
            <a:r>
              <a:rPr lang="en-US" dirty="0"/>
              <a:t> diverse bug-</a:t>
            </a:r>
            <a:r>
              <a:rPr lang="en-US" dirty="0" err="1"/>
              <a:t>uri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erori</a:t>
            </a:r>
            <a:r>
              <a:rPr lang="en-US" dirty="0"/>
              <a:t> care </a:t>
            </a:r>
            <a:r>
              <a:rPr lang="en-US" dirty="0" err="1"/>
              <a:t>ar</a:t>
            </a:r>
            <a:r>
              <a:rPr lang="en-US" dirty="0"/>
              <a:t> fi </a:t>
            </a:r>
            <a:r>
              <a:rPr lang="en-US" dirty="0" err="1"/>
              <a:t>putut</a:t>
            </a:r>
            <a:r>
              <a:rPr lang="en-US" dirty="0"/>
              <a:t> </a:t>
            </a:r>
            <a:r>
              <a:rPr lang="en-US" dirty="0" err="1"/>
              <a:t>afecta</a:t>
            </a:r>
            <a:r>
              <a:rPr lang="en-US" dirty="0"/>
              <a:t> </a:t>
            </a:r>
            <a:r>
              <a:rPr lang="en-US" dirty="0" err="1"/>
              <a:t>funcționarea</a:t>
            </a:r>
            <a:r>
              <a:rPr lang="en-US" dirty="0"/>
              <a:t> </a:t>
            </a:r>
            <a:r>
              <a:rPr lang="en-US" dirty="0" err="1"/>
              <a:t>aplicației</a:t>
            </a:r>
            <a:r>
              <a:rPr lang="en-US" dirty="0"/>
              <a:t>.</a:t>
            </a:r>
          </a:p>
          <a:p>
            <a:r>
              <a:rPr lang="en-US" b="1" dirty="0"/>
              <a:t>2. </a:t>
            </a:r>
            <a:r>
              <a:rPr lang="en-US" b="1" dirty="0" err="1"/>
              <a:t>Performanța</a:t>
            </a:r>
            <a:r>
              <a:rPr lang="en-US" b="1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Timp</a:t>
            </a:r>
            <a:r>
              <a:rPr lang="en-US" b="1" dirty="0"/>
              <a:t> de </a:t>
            </a:r>
            <a:r>
              <a:rPr lang="en-US" b="1" dirty="0" err="1"/>
              <a:t>răspuns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Testele</a:t>
            </a:r>
            <a:r>
              <a:rPr lang="en-US" dirty="0"/>
              <a:t> de </a:t>
            </a:r>
            <a:r>
              <a:rPr lang="en-US" dirty="0" err="1"/>
              <a:t>performanță</a:t>
            </a:r>
            <a:r>
              <a:rPr lang="en-US" dirty="0"/>
              <a:t> au </a:t>
            </a:r>
            <a:r>
              <a:rPr lang="en-US" dirty="0" err="1"/>
              <a:t>arătat</a:t>
            </a:r>
            <a:r>
              <a:rPr lang="en-US" dirty="0"/>
              <a:t> un </a:t>
            </a:r>
            <a:r>
              <a:rPr lang="en-US" dirty="0" err="1"/>
              <a:t>timp</a:t>
            </a:r>
            <a:r>
              <a:rPr lang="en-US" dirty="0"/>
              <a:t> de </a:t>
            </a:r>
            <a:r>
              <a:rPr lang="en-US" dirty="0" err="1"/>
              <a:t>răspuns</a:t>
            </a:r>
            <a:r>
              <a:rPr lang="en-US" dirty="0"/>
              <a:t> </a:t>
            </a:r>
            <a:r>
              <a:rPr lang="en-US" dirty="0" err="1"/>
              <a:t>adecvat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majoritatea</a:t>
            </a:r>
            <a:r>
              <a:rPr lang="en-US" dirty="0"/>
              <a:t> </a:t>
            </a:r>
            <a:r>
              <a:rPr lang="en-US" dirty="0" err="1"/>
              <a:t>cererilor</a:t>
            </a:r>
            <a:r>
              <a:rPr lang="en-US" dirty="0"/>
              <a:t>, </a:t>
            </a:r>
            <a:r>
              <a:rPr lang="en-US" dirty="0" err="1"/>
              <a:t>asigurând</a:t>
            </a:r>
            <a:r>
              <a:rPr lang="en-US" dirty="0"/>
              <a:t> </a:t>
            </a:r>
            <a:r>
              <a:rPr lang="en-US" dirty="0" err="1"/>
              <a:t>astfel</a:t>
            </a:r>
            <a:r>
              <a:rPr lang="en-US" dirty="0"/>
              <a:t> o </a:t>
            </a:r>
            <a:r>
              <a:rPr lang="en-US" dirty="0" err="1"/>
              <a:t>experiență</a:t>
            </a:r>
            <a:r>
              <a:rPr lang="en-US" dirty="0"/>
              <a:t> de </a:t>
            </a:r>
            <a:r>
              <a:rPr lang="en-US" dirty="0" err="1"/>
              <a:t>utilizator</a:t>
            </a:r>
            <a:r>
              <a:rPr lang="en-US" dirty="0"/>
              <a:t> </a:t>
            </a:r>
            <a:r>
              <a:rPr lang="en-US" dirty="0" err="1"/>
              <a:t>fluentă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Stabilitate</a:t>
            </a:r>
            <a:r>
              <a:rPr lang="en-US" b="1" dirty="0"/>
              <a:t>:</a:t>
            </a:r>
            <a:r>
              <a:rPr lang="en-US" dirty="0"/>
              <a:t> API-</a:t>
            </a:r>
            <a:r>
              <a:rPr lang="en-US" dirty="0" err="1"/>
              <a:t>ul</a:t>
            </a:r>
            <a:r>
              <a:rPr lang="en-US" dirty="0"/>
              <a:t> a </a:t>
            </a:r>
            <a:r>
              <a:rPr lang="en-US" dirty="0" err="1"/>
              <a:t>demonstrat</a:t>
            </a:r>
            <a:r>
              <a:rPr lang="en-US" dirty="0"/>
              <a:t> </a:t>
            </a:r>
            <a:r>
              <a:rPr lang="en-US" dirty="0" err="1"/>
              <a:t>stabilitate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fiabilitate</a:t>
            </a:r>
            <a:r>
              <a:rPr lang="en-US" dirty="0"/>
              <a:t> sub </a:t>
            </a:r>
            <a:r>
              <a:rPr lang="en-US" dirty="0" err="1"/>
              <a:t>diferite</a:t>
            </a:r>
            <a:r>
              <a:rPr lang="en-US" dirty="0"/>
              <a:t> </a:t>
            </a:r>
            <a:r>
              <a:rPr lang="en-US" dirty="0" err="1"/>
              <a:t>condiții</a:t>
            </a:r>
            <a:r>
              <a:rPr lang="en-US" dirty="0"/>
              <a:t> de </a:t>
            </a:r>
            <a:r>
              <a:rPr lang="en-US" dirty="0" err="1"/>
              <a:t>încărcare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endParaRPr lang="en-US" b="1" dirty="0"/>
          </a:p>
          <a:p>
            <a:r>
              <a:rPr lang="en-US" sz="3600" cap="all" dirty="0">
                <a:latin typeface="+mj-lt"/>
                <a:ea typeface="+mj-ea"/>
                <a:cs typeface="+mj-cs"/>
              </a:rPr>
              <a:t>Lessons Learned</a:t>
            </a:r>
          </a:p>
          <a:p>
            <a:pPr>
              <a:buFont typeface="+mj-lt"/>
              <a:buAutoNum type="arabicPeriod"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1" dirty="0" err="1"/>
              <a:t>Procesul</a:t>
            </a:r>
            <a:r>
              <a:rPr lang="en-US" b="1" dirty="0"/>
              <a:t> de </a:t>
            </a:r>
            <a:r>
              <a:rPr lang="en-US" b="1" dirty="0" err="1"/>
              <a:t>testare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Importanța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metodologii</a:t>
            </a:r>
            <a:r>
              <a:rPr lang="en-US" dirty="0"/>
              <a:t> </a:t>
            </a:r>
            <a:r>
              <a:rPr lang="en-US" dirty="0" err="1"/>
              <a:t>riguroase</a:t>
            </a:r>
            <a:r>
              <a:rPr lang="en-US" dirty="0"/>
              <a:t> de </a:t>
            </a:r>
            <a:r>
              <a:rPr lang="en-US" dirty="0" err="1"/>
              <a:t>testare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asigurarea</a:t>
            </a:r>
            <a:r>
              <a:rPr lang="en-US" dirty="0"/>
              <a:t> </a:t>
            </a:r>
            <a:r>
              <a:rPr lang="en-US" dirty="0" err="1"/>
              <a:t>calității</a:t>
            </a:r>
            <a:r>
              <a:rPr lang="en-US" dirty="0"/>
              <a:t> </a:t>
            </a:r>
            <a:r>
              <a:rPr lang="en-US" dirty="0" err="1"/>
              <a:t>produsului</a:t>
            </a:r>
            <a:r>
              <a:rPr lang="en-US" dirty="0"/>
              <a:t> final.</a:t>
            </a:r>
            <a:endParaRPr lang="en-US" b="1" dirty="0"/>
          </a:p>
          <a:p>
            <a:pPr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082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8F3D8-2CEC-B6C6-C10C-C11685541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1714500"/>
            <a:ext cx="9905955" cy="3429000"/>
          </a:xfrm>
        </p:spPr>
        <p:txBody>
          <a:bodyPr/>
          <a:lstStyle/>
          <a:p>
            <a:pPr algn="ctr"/>
            <a:r>
              <a:rPr lang="en-US" dirty="0" err="1"/>
              <a:t>Multumesc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atentie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5175954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2402</TotalTime>
  <Words>1334</Words>
  <Application>Microsoft Office PowerPoint</Application>
  <PresentationFormat>Widescreen</PresentationFormat>
  <Paragraphs>149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-apple-system</vt:lpstr>
      <vt:lpstr>Aptos</vt:lpstr>
      <vt:lpstr>Arial</vt:lpstr>
      <vt:lpstr>Calibri</vt:lpstr>
      <vt:lpstr>Courier New</vt:lpstr>
      <vt:lpstr>Inter</vt:lpstr>
      <vt:lpstr>Tw Cen MT</vt:lpstr>
      <vt:lpstr>Circuit</vt:lpstr>
      <vt:lpstr>PROIECT final</vt:lpstr>
      <vt:lpstr>Partea I - Notiuni teoretice</vt:lpstr>
      <vt:lpstr>Partea I - Notiuni teoretice</vt:lpstr>
      <vt:lpstr>Partea I - Notiuni teoretice</vt:lpstr>
      <vt:lpstr>Partea I - Notiuni teoretice</vt:lpstr>
      <vt:lpstr>Partea II - aSPECTE PRACTICE</vt:lpstr>
      <vt:lpstr>Partea II - aSPECTE PRACTICE</vt:lpstr>
      <vt:lpstr>Partea II - aSPECTE PRACTICE</vt:lpstr>
      <vt:lpstr>Partea II - aSPECTE PRACTICE</vt:lpstr>
      <vt:lpstr>Partea II - aSPECTE PRACTICE</vt:lpstr>
      <vt:lpstr>Partea II - aSPECTE PRACTICE</vt:lpstr>
      <vt:lpstr>Partea II - aSPECTE PRACTICE</vt:lpstr>
      <vt:lpstr>Partea II - aSPECTE PRACTICE</vt:lpstr>
      <vt:lpstr>Partea II - aSPECTE PRACTICE</vt:lpstr>
      <vt:lpstr>concluzii</vt:lpstr>
      <vt:lpstr>Multumesc pentru atentie!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tusan stefania</dc:creator>
  <cp:lastModifiedBy>Dumitrescu Flavius Flavius</cp:lastModifiedBy>
  <cp:revision>4</cp:revision>
  <dcterms:created xsi:type="dcterms:W3CDTF">2024-07-25T17:56:58Z</dcterms:created>
  <dcterms:modified xsi:type="dcterms:W3CDTF">2024-08-05T00:48:34Z</dcterms:modified>
</cp:coreProperties>
</file>